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738100" cy="7150100"/>
  <p:notesSz cx="12738100" cy="7150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5810" y="1783461"/>
            <a:ext cx="8679180" cy="12081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31620" y="3221736"/>
            <a:ext cx="7147560" cy="143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10540" y="1323213"/>
            <a:ext cx="4441698" cy="37970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258562" y="1323213"/>
            <a:ext cx="4441698" cy="37970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2550" y="5886450"/>
            <a:ext cx="787400" cy="4699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7200" y="5378450"/>
            <a:ext cx="768350" cy="1333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0450" y="5384800"/>
            <a:ext cx="800100" cy="127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150" y="520700"/>
            <a:ext cx="127000" cy="10350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200" y="3168650"/>
            <a:ext cx="577850" cy="1079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12950" y="1987550"/>
            <a:ext cx="831850" cy="1270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8300" y="2622550"/>
            <a:ext cx="1517650" cy="1016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06850" y="5549900"/>
            <a:ext cx="609600" cy="12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23068"/>
            <a:ext cx="10031095" cy="699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30" y="1422241"/>
            <a:ext cx="4886325" cy="2044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71672" y="5350383"/>
            <a:ext cx="3267456" cy="287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10540" y="5350383"/>
            <a:ext cx="2348484" cy="287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351776" y="5350383"/>
            <a:ext cx="2348484" cy="287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1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1509" y="1624541"/>
            <a:ext cx="7083425" cy="1111250"/>
          </a:xfrm>
          <a:prstGeom prst="rect"/>
        </p:spPr>
        <p:txBody>
          <a:bodyPr wrap="square" lIns="0" tIns="128905" rIns="0" bIns="0" rtlCol="0" vert="horz">
            <a:spAutoFit/>
          </a:bodyPr>
          <a:lstStyle/>
          <a:p>
            <a:pPr marL="1327150" marR="5080" indent="-1314450">
              <a:lnSpc>
                <a:spcPts val="3800"/>
              </a:lnSpc>
              <a:spcBef>
                <a:spcPts val="1015"/>
              </a:spcBef>
            </a:pPr>
            <a:r>
              <a:rPr dirty="0" sz="3950" spc="-45" b="0">
                <a:latin typeface="Arial MT"/>
                <a:cs typeface="Arial MT"/>
              </a:rPr>
              <a:t>Crop</a:t>
            </a:r>
            <a:r>
              <a:rPr dirty="0" sz="3950" spc="-229" b="0">
                <a:latin typeface="Arial MT"/>
                <a:cs typeface="Arial MT"/>
              </a:rPr>
              <a:t> </a:t>
            </a:r>
            <a:r>
              <a:rPr dirty="0" sz="3950" spc="-30" b="0">
                <a:latin typeface="Arial MT"/>
                <a:cs typeface="Arial MT"/>
              </a:rPr>
              <a:t>Optimisation</a:t>
            </a:r>
            <a:r>
              <a:rPr dirty="0" sz="3950" spc="-160" b="0">
                <a:latin typeface="Arial MT"/>
                <a:cs typeface="Arial MT"/>
              </a:rPr>
              <a:t> </a:t>
            </a:r>
            <a:r>
              <a:rPr dirty="0" sz="3950" spc="-45" b="0">
                <a:latin typeface="Arial MT"/>
                <a:cs typeface="Arial MT"/>
              </a:rPr>
              <a:t>Using</a:t>
            </a:r>
            <a:r>
              <a:rPr dirty="0" sz="3950" spc="-210" b="0">
                <a:latin typeface="Arial MT"/>
                <a:cs typeface="Arial MT"/>
              </a:rPr>
              <a:t> </a:t>
            </a:r>
            <a:r>
              <a:rPr dirty="0" sz="3950" spc="50" b="0">
                <a:latin typeface="Arial MT"/>
                <a:cs typeface="Arial MT"/>
              </a:rPr>
              <a:t>ML</a:t>
            </a:r>
            <a:r>
              <a:rPr dirty="0" sz="3950" spc="-305" b="0">
                <a:latin typeface="Arial MT"/>
                <a:cs typeface="Arial MT"/>
              </a:rPr>
              <a:t> </a:t>
            </a:r>
            <a:r>
              <a:rPr dirty="0" sz="3950" spc="-25" b="0">
                <a:latin typeface="Arial MT"/>
                <a:cs typeface="Arial MT"/>
              </a:rPr>
              <a:t>and </a:t>
            </a:r>
            <a:r>
              <a:rPr dirty="0" sz="3950" spc="-35" b="0">
                <a:latin typeface="Arial MT"/>
                <a:cs typeface="Arial MT"/>
              </a:rPr>
              <a:t>Crowdsourcing</a:t>
            </a:r>
            <a:r>
              <a:rPr dirty="0" sz="3950" spc="-160" b="0">
                <a:latin typeface="Arial MT"/>
                <a:cs typeface="Arial MT"/>
              </a:rPr>
              <a:t> </a:t>
            </a:r>
            <a:r>
              <a:rPr dirty="0" sz="3950" spc="-20" b="0">
                <a:latin typeface="Arial MT"/>
                <a:cs typeface="Arial MT"/>
              </a:rPr>
              <a:t>Data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1266" y="3839986"/>
            <a:ext cx="3772535" cy="1460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150"/>
              </a:lnSpc>
              <a:spcBef>
                <a:spcPts val="110"/>
              </a:spcBef>
            </a:pPr>
            <a:r>
              <a:rPr dirty="0" sz="2000" spc="-110">
                <a:latin typeface="Arial MT"/>
                <a:cs typeface="Arial MT"/>
              </a:rPr>
              <a:t>Presenter:Tejas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Ghoti</a:t>
            </a:r>
            <a:endParaRPr sz="2000">
              <a:latin typeface="Arial MT"/>
              <a:cs typeface="Arial MT"/>
            </a:endParaRPr>
          </a:p>
          <a:p>
            <a:pPr marL="13970" marR="5080">
              <a:lnSpc>
                <a:spcPct val="75000"/>
              </a:lnSpc>
              <a:spcBef>
                <a:spcPts val="350"/>
              </a:spcBef>
            </a:pPr>
            <a:r>
              <a:rPr dirty="0" sz="2000" spc="-120">
                <a:latin typeface="Arial MT"/>
                <a:cs typeface="Arial MT"/>
              </a:rPr>
              <a:t>Seminar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114">
                <a:latin typeface="Arial MT"/>
                <a:cs typeface="Arial MT"/>
              </a:rPr>
              <a:t>Guide:Mr.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140">
                <a:latin typeface="Arial MT"/>
                <a:cs typeface="Arial MT"/>
              </a:rPr>
              <a:t>Naman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60">
                <a:latin typeface="Arial MT"/>
                <a:cs typeface="Arial MT"/>
              </a:rPr>
              <a:t>Buradkar </a:t>
            </a:r>
            <a:r>
              <a:rPr dirty="0" sz="2000" spc="-120">
                <a:latin typeface="Arial MT"/>
                <a:cs typeface="Arial MT"/>
              </a:rPr>
              <a:t>Seminar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95">
                <a:latin typeface="Arial MT"/>
                <a:cs typeface="Arial MT"/>
              </a:rPr>
              <a:t>Reviewer:Mrs.</a:t>
            </a:r>
            <a:r>
              <a:rPr dirty="0" sz="2000" spc="25">
                <a:latin typeface="Arial MT"/>
                <a:cs typeface="Arial MT"/>
              </a:rPr>
              <a:t> </a:t>
            </a:r>
            <a:r>
              <a:rPr dirty="0" sz="2000" spc="-90">
                <a:latin typeface="Arial MT"/>
                <a:cs typeface="Arial MT"/>
              </a:rPr>
              <a:t>Amruta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Patil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000">
              <a:latin typeface="Arial MT"/>
              <a:cs typeface="Arial MT"/>
            </a:endParaRPr>
          </a:p>
          <a:p>
            <a:pPr marL="136525">
              <a:lnSpc>
                <a:spcPct val="100000"/>
              </a:lnSpc>
              <a:spcBef>
                <a:spcPts val="5"/>
              </a:spcBef>
            </a:pPr>
            <a:r>
              <a:rPr dirty="0" sz="1650" spc="-130">
                <a:latin typeface="Arial Black"/>
                <a:cs typeface="Arial Black"/>
              </a:rPr>
              <a:t>Date:14/10/25</a:t>
            </a:r>
            <a:endParaRPr sz="16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370">
                <a:latin typeface="Verdana"/>
                <a:cs typeface="Verdana"/>
              </a:rPr>
              <a:t>The</a:t>
            </a:r>
            <a:r>
              <a:rPr dirty="0" spc="-430">
                <a:latin typeface="Verdana"/>
                <a:cs typeface="Verdana"/>
              </a:rPr>
              <a:t> </a:t>
            </a:r>
            <a:r>
              <a:rPr dirty="0" spc="-360">
                <a:latin typeface="Verdana"/>
                <a:cs typeface="Verdana"/>
              </a:rPr>
              <a:t>Participatory</a:t>
            </a:r>
            <a:r>
              <a:rPr dirty="0" spc="-415">
                <a:latin typeface="Verdana"/>
                <a:cs typeface="Verdana"/>
              </a:rPr>
              <a:t> </a:t>
            </a:r>
            <a:r>
              <a:rPr dirty="0" spc="-470">
                <a:latin typeface="Verdana"/>
                <a:cs typeface="Verdana"/>
              </a:rPr>
              <a:t>Data</a:t>
            </a:r>
            <a:r>
              <a:rPr dirty="0" spc="-415">
                <a:latin typeface="Verdana"/>
                <a:cs typeface="Verdana"/>
              </a:rPr>
              <a:t> </a:t>
            </a:r>
            <a:r>
              <a:rPr dirty="0" spc="-470">
                <a:latin typeface="Verdana"/>
                <a:cs typeface="Verdana"/>
              </a:rPr>
              <a:t>Ecosystem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459864"/>
            <a:ext cx="994918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We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are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building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a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rich,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ground-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truth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dataset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from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the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bottom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up,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breaking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the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traditional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top-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down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approach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to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agricultural advice.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9259" y="2252384"/>
            <a:ext cx="3590439" cy="359043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040410" y="2715069"/>
            <a:ext cx="2639695" cy="656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46505">
              <a:lnSpc>
                <a:spcPct val="100000"/>
              </a:lnSpc>
              <a:spcBef>
                <a:spcPts val="120"/>
              </a:spcBef>
            </a:pPr>
            <a:r>
              <a:rPr dirty="0" sz="1750" spc="-200" b="1">
                <a:solidFill>
                  <a:srgbClr val="272525"/>
                </a:solidFill>
                <a:latin typeface="Verdana"/>
                <a:cs typeface="Verdana"/>
              </a:rPr>
              <a:t>Farmer</a:t>
            </a: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 Input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Operational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via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mobile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app.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49579" y="2715069"/>
            <a:ext cx="2569210" cy="656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29" b="1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750" spc="-18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45" b="1">
                <a:solidFill>
                  <a:srgbClr val="272525"/>
                </a:solidFill>
                <a:latin typeface="Verdana"/>
                <a:cs typeface="Verdana"/>
              </a:rPr>
              <a:t>Collection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Multi-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layered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aggregation.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49579" y="4639119"/>
            <a:ext cx="2771140" cy="656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65" b="1">
                <a:solidFill>
                  <a:srgbClr val="272525"/>
                </a:solidFill>
                <a:latin typeface="Verdana"/>
                <a:cs typeface="Verdana"/>
              </a:rPr>
              <a:t>ML</a:t>
            </a:r>
            <a:r>
              <a:rPr dirty="0" sz="1750" spc="-204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100" b="1">
                <a:solidFill>
                  <a:srgbClr val="272525"/>
                </a:solidFill>
                <a:latin typeface="Verdana"/>
                <a:cs typeface="Verdana"/>
              </a:rPr>
              <a:t>Processing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Stacked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ensemble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model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training.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3146" y="4639119"/>
            <a:ext cx="2867025" cy="656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983615">
              <a:lnSpc>
                <a:spcPct val="100000"/>
              </a:lnSpc>
              <a:spcBef>
                <a:spcPts val="120"/>
              </a:spcBef>
            </a:pP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Actionable</a:t>
            </a:r>
            <a:r>
              <a:rPr dirty="0" sz="1750" spc="-12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140" b="1">
                <a:solidFill>
                  <a:srgbClr val="272525"/>
                </a:solidFill>
                <a:latin typeface="Verdana"/>
                <a:cs typeface="Verdana"/>
              </a:rPr>
              <a:t>Advice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Hyper-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localized</a:t>
            </a:r>
            <a:r>
              <a:rPr dirty="0" sz="135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recommendations.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5910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90"/>
              </a:spcBef>
            </a:pPr>
            <a:r>
              <a:rPr dirty="0" spc="-254">
                <a:latin typeface="Verdana"/>
                <a:cs typeface="Verdana"/>
              </a:rPr>
              <a:t>Multi-</a:t>
            </a:r>
            <a:r>
              <a:rPr dirty="0" spc="-445">
                <a:latin typeface="Verdana"/>
                <a:cs typeface="Verdana"/>
              </a:rPr>
              <a:t>Layered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470">
                <a:latin typeface="Verdana"/>
                <a:cs typeface="Verdana"/>
              </a:rPr>
              <a:t>Data</a:t>
            </a:r>
            <a:r>
              <a:rPr dirty="0" spc="-405">
                <a:latin typeface="Verdana"/>
                <a:cs typeface="Verdana"/>
              </a:rPr>
              <a:t> </a:t>
            </a:r>
            <a:r>
              <a:rPr dirty="0" spc="-459">
                <a:latin typeface="Verdana"/>
                <a:cs typeface="Verdana"/>
              </a:rPr>
              <a:t>Sources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924425" y="2762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924425" y="3648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924425" y="4800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873625" y="1422241"/>
            <a:ext cx="1513205" cy="45974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356235">
              <a:lnSpc>
                <a:spcPct val="104200"/>
              </a:lnSpc>
              <a:spcBef>
                <a:spcPts val="20"/>
              </a:spcBef>
            </a:pPr>
            <a:r>
              <a:rPr dirty="0" sz="2100" spc="-100" b="1">
                <a:latin typeface="Verdana"/>
                <a:cs typeface="Verdana"/>
              </a:rPr>
              <a:t>Farmer- </a:t>
            </a:r>
            <a:r>
              <a:rPr dirty="0" sz="2100" spc="-245" b="1">
                <a:latin typeface="Verdana"/>
                <a:cs typeface="Verdana"/>
              </a:rPr>
              <a:t>Reported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100" spc="-275" b="1"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286385" marR="33655">
              <a:lnSpc>
                <a:spcPct val="134300"/>
              </a:lnSpc>
              <a:spcBef>
                <a:spcPts val="1275"/>
              </a:spcBef>
            </a:pP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Crop</a:t>
            </a:r>
            <a:r>
              <a:rPr dirty="0" sz="1350" spc="-10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Details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(type,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variety,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sowing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dates).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32700"/>
              </a:lnSpc>
              <a:spcBef>
                <a:spcPts val="475"/>
              </a:spcBef>
            </a:pP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Farm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Practices (fertilizer, irrigation, tillage).</a:t>
            </a:r>
            <a:endParaRPr sz="1350">
              <a:latin typeface="Verdana"/>
              <a:cs typeface="Verdana"/>
            </a:endParaRPr>
          </a:p>
          <a:p>
            <a:pPr marL="286385" marR="5715">
              <a:lnSpc>
                <a:spcPct val="133100"/>
              </a:lnSpc>
              <a:spcBef>
                <a:spcPts val="465"/>
              </a:spcBef>
            </a:pP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Phenological Observations 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(growth,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pests,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disease, images).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029450" y="2428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029450" y="3581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029450" y="4467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982523" y="1422241"/>
            <a:ext cx="1650364" cy="398780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153035">
              <a:lnSpc>
                <a:spcPct val="104200"/>
              </a:lnSpc>
              <a:spcBef>
                <a:spcPts val="20"/>
              </a:spcBef>
            </a:pPr>
            <a:r>
              <a:rPr dirty="0" sz="2100" spc="-265" b="1">
                <a:latin typeface="Verdana"/>
                <a:cs typeface="Verdana"/>
              </a:rPr>
              <a:t>Sensor- </a:t>
            </a:r>
            <a:r>
              <a:rPr dirty="0" sz="2100" spc="-204" b="1">
                <a:latin typeface="Verdana"/>
                <a:cs typeface="Verdana"/>
              </a:rPr>
              <a:t>Driven</a:t>
            </a:r>
            <a:r>
              <a:rPr dirty="0" sz="2100" spc="-220" b="1">
                <a:latin typeface="Verdana"/>
                <a:cs typeface="Verdana"/>
              </a:rPr>
              <a:t> </a:t>
            </a:r>
            <a:r>
              <a:rPr dirty="0" sz="2100" spc="-275" b="1"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286385" marR="107950">
              <a:lnSpc>
                <a:spcPct val="132700"/>
              </a:lnSpc>
              <a:spcBef>
                <a:spcPts val="1375"/>
              </a:spcBef>
            </a:pP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Real-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time, quantitative environmental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measurements.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Soil</a:t>
            </a:r>
            <a:r>
              <a:rPr dirty="0" sz="1350" spc="-9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moisture,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nutrient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(N-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P-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K),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9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pH</a:t>
            </a:r>
            <a:r>
              <a:rPr dirty="0" sz="1350" spc="-9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levels.</a:t>
            </a:r>
            <a:endParaRPr sz="1350">
              <a:latin typeface="Verdana"/>
              <a:cs typeface="Verdana"/>
            </a:endParaRPr>
          </a:p>
          <a:p>
            <a:pPr marL="286385" marR="15240">
              <a:lnSpc>
                <a:spcPct val="132700"/>
              </a:lnSpc>
              <a:spcBef>
                <a:spcPts val="475"/>
              </a:spcBef>
            </a:pP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Ambient 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temperature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humidity (DHT22).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134475" y="2428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9134475" y="3305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7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091409" y="1422241"/>
            <a:ext cx="1718310" cy="283527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0"/>
              </a:spcBef>
            </a:pPr>
            <a:r>
              <a:rPr dirty="0" sz="2100" spc="-210" b="1">
                <a:latin typeface="Verdana"/>
                <a:cs typeface="Verdana"/>
              </a:rPr>
              <a:t>External</a:t>
            </a:r>
            <a:r>
              <a:rPr dirty="0" sz="2100" spc="-190" b="1">
                <a:latin typeface="Verdana"/>
                <a:cs typeface="Verdana"/>
              </a:rPr>
              <a:t> </a:t>
            </a:r>
            <a:r>
              <a:rPr dirty="0" sz="2100" spc="-275" b="1">
                <a:latin typeface="Verdana"/>
                <a:cs typeface="Verdana"/>
              </a:rPr>
              <a:t>Data </a:t>
            </a:r>
            <a:r>
              <a:rPr dirty="0" sz="2100" spc="-150" b="1">
                <a:latin typeface="Verdana"/>
                <a:cs typeface="Verdana"/>
              </a:rPr>
              <a:t>Integration</a:t>
            </a:r>
            <a:endParaRPr sz="2100">
              <a:latin typeface="Verdana"/>
              <a:cs typeface="Verdana"/>
            </a:endParaRPr>
          </a:p>
          <a:p>
            <a:pPr marL="286385" marR="22225">
              <a:lnSpc>
                <a:spcPct val="131900"/>
              </a:lnSpc>
              <a:spcBef>
                <a:spcPts val="1385"/>
              </a:spcBef>
            </a:pP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Regional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weather 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forecasts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for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context.</a:t>
            </a:r>
            <a:endParaRPr sz="1350">
              <a:latin typeface="Verdana"/>
              <a:cs typeface="Verdana"/>
            </a:endParaRPr>
          </a:p>
          <a:p>
            <a:pPr marL="286385" marR="79375">
              <a:lnSpc>
                <a:spcPct val="134300"/>
              </a:lnSpc>
              <a:spcBef>
                <a:spcPts val="450"/>
              </a:spcBef>
            </a:pP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Satellite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imagery </a:t>
            </a:r>
            <a:r>
              <a:rPr dirty="0" sz="1350" spc="-90">
                <a:solidFill>
                  <a:srgbClr val="272525"/>
                </a:solidFill>
                <a:latin typeface="Verdana"/>
                <a:cs typeface="Verdana"/>
              </a:rPr>
              <a:t>(e.g.,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NDVI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for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vegetation health).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078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537493"/>
            <a:ext cx="9623425" cy="565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370">
                <a:latin typeface="Verdana"/>
                <a:cs typeface="Verdana"/>
              </a:rPr>
              <a:t>The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434">
                <a:latin typeface="Verdana"/>
                <a:cs typeface="Verdana"/>
              </a:rPr>
              <a:t>Technology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480">
                <a:latin typeface="Verdana"/>
                <a:cs typeface="Verdana"/>
              </a:rPr>
              <a:t>Stack: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375">
                <a:latin typeface="Verdana"/>
                <a:cs typeface="Verdana"/>
              </a:rPr>
              <a:t>Accessible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400">
                <a:latin typeface="Verdana"/>
                <a:cs typeface="Verdana"/>
              </a:rPr>
              <a:t>&amp;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370">
                <a:latin typeface="Verdana"/>
                <a:cs typeface="Verdana"/>
              </a:rPr>
              <a:t>Affordable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2495550"/>
            <a:ext cx="3295650" cy="2352675"/>
            <a:chOff x="600075" y="2495550"/>
            <a:chExt cx="3295650" cy="2352675"/>
          </a:xfrm>
        </p:grpSpPr>
        <p:sp>
          <p:nvSpPr>
            <p:cNvPr id="4" name="object 4" descr=""/>
            <p:cNvSpPr/>
            <p:nvPr/>
          </p:nvSpPr>
          <p:spPr>
            <a:xfrm>
              <a:off x="600075" y="2753575"/>
              <a:ext cx="3295650" cy="2094864"/>
            </a:xfrm>
            <a:custGeom>
              <a:avLst/>
              <a:gdLst/>
              <a:ahLst/>
              <a:cxnLst/>
              <a:rect l="l" t="t" r="r" b="b"/>
              <a:pathLst>
                <a:path w="3295650" h="2094864">
                  <a:moveTo>
                    <a:pt x="3295650" y="75349"/>
                  </a:moveTo>
                  <a:lnTo>
                    <a:pt x="3282810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79"/>
                  </a:lnTo>
                  <a:lnTo>
                    <a:pt x="3248317" y="8813"/>
                  </a:lnTo>
                  <a:lnTo>
                    <a:pt x="3272244" y="46189"/>
                  </a:lnTo>
                  <a:lnTo>
                    <a:pt x="3276600" y="75349"/>
                  </a:lnTo>
                  <a:lnTo>
                    <a:pt x="3276600" y="2034641"/>
                  </a:lnTo>
                  <a:lnTo>
                    <a:pt x="3264077" y="2064042"/>
                  </a:lnTo>
                  <a:lnTo>
                    <a:pt x="3258286" y="2068855"/>
                  </a:lnTo>
                  <a:lnTo>
                    <a:pt x="3251365" y="2072601"/>
                  </a:lnTo>
                  <a:lnTo>
                    <a:pt x="3243808" y="2074849"/>
                  </a:lnTo>
                  <a:lnTo>
                    <a:pt x="3235642" y="2075599"/>
                  </a:lnTo>
                  <a:lnTo>
                    <a:pt x="60007" y="2075599"/>
                  </a:lnTo>
                  <a:lnTo>
                    <a:pt x="51828" y="2074849"/>
                  </a:lnTo>
                  <a:lnTo>
                    <a:pt x="44272" y="2072601"/>
                  </a:lnTo>
                  <a:lnTo>
                    <a:pt x="37350" y="2068855"/>
                  </a:lnTo>
                  <a:lnTo>
                    <a:pt x="31546" y="2064054"/>
                  </a:lnTo>
                  <a:lnTo>
                    <a:pt x="25793" y="2057298"/>
                  </a:lnTo>
                  <a:lnTo>
                    <a:pt x="22047" y="2050364"/>
                  </a:lnTo>
                  <a:lnTo>
                    <a:pt x="19799" y="2042820"/>
                  </a:lnTo>
                  <a:lnTo>
                    <a:pt x="19050" y="2034641"/>
                  </a:lnTo>
                  <a:lnTo>
                    <a:pt x="19050" y="75349"/>
                  </a:lnTo>
                  <a:lnTo>
                    <a:pt x="28663" y="33007"/>
                  </a:lnTo>
                  <a:lnTo>
                    <a:pt x="61328" y="1079"/>
                  </a:lnTo>
                  <a:lnTo>
                    <a:pt x="65430" y="0"/>
                  </a:lnTo>
                  <a:lnTo>
                    <a:pt x="61328" y="609"/>
                  </a:lnTo>
                  <a:lnTo>
                    <a:pt x="22313" y="21463"/>
                  </a:lnTo>
                  <a:lnTo>
                    <a:pt x="1447" y="60490"/>
                  </a:lnTo>
                  <a:lnTo>
                    <a:pt x="0" y="75349"/>
                  </a:lnTo>
                  <a:lnTo>
                    <a:pt x="0" y="2042617"/>
                  </a:lnTo>
                  <a:lnTo>
                    <a:pt x="1511" y="2050249"/>
                  </a:lnTo>
                  <a:lnTo>
                    <a:pt x="7607" y="2064956"/>
                  </a:lnTo>
                  <a:lnTo>
                    <a:pt x="11950" y="2071446"/>
                  </a:lnTo>
                  <a:lnTo>
                    <a:pt x="17576" y="2077085"/>
                  </a:lnTo>
                  <a:lnTo>
                    <a:pt x="17792" y="2077313"/>
                  </a:lnTo>
                  <a:lnTo>
                    <a:pt x="18046" y="2077554"/>
                  </a:lnTo>
                  <a:lnTo>
                    <a:pt x="23202" y="2082698"/>
                  </a:lnTo>
                  <a:lnTo>
                    <a:pt x="29679" y="2087029"/>
                  </a:lnTo>
                  <a:lnTo>
                    <a:pt x="44386" y="2093125"/>
                  </a:lnTo>
                  <a:lnTo>
                    <a:pt x="52044" y="2094649"/>
                  </a:lnTo>
                  <a:lnTo>
                    <a:pt x="3243605" y="2094649"/>
                  </a:lnTo>
                  <a:lnTo>
                    <a:pt x="3251250" y="2093125"/>
                  </a:lnTo>
                  <a:lnTo>
                    <a:pt x="3265957" y="2087029"/>
                  </a:lnTo>
                  <a:lnTo>
                    <a:pt x="3272447" y="2082698"/>
                  </a:lnTo>
                  <a:lnTo>
                    <a:pt x="3277590" y="2077554"/>
                  </a:lnTo>
                  <a:lnTo>
                    <a:pt x="3278060" y="2077085"/>
                  </a:lnTo>
                  <a:lnTo>
                    <a:pt x="3283699" y="2071446"/>
                  </a:lnTo>
                  <a:lnTo>
                    <a:pt x="3288030" y="2064956"/>
                  </a:lnTo>
                  <a:lnTo>
                    <a:pt x="3294075" y="2050364"/>
                  </a:lnTo>
                  <a:lnTo>
                    <a:pt x="3295599" y="2042820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2D4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075" y="2495549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294195"/>
                  </a:moveTo>
                  <a:lnTo>
                    <a:pt x="3280867" y="258483"/>
                  </a:lnTo>
                  <a:lnTo>
                    <a:pt x="3243491" y="238506"/>
                  </a:lnTo>
                  <a:lnTo>
                    <a:pt x="3239579" y="238125"/>
                  </a:lnTo>
                  <a:lnTo>
                    <a:pt x="1904365" y="238125"/>
                  </a:lnTo>
                  <a:lnTo>
                    <a:pt x="1902942" y="223583"/>
                  </a:lnTo>
                  <a:lnTo>
                    <a:pt x="1891487" y="174459"/>
                  </a:lnTo>
                  <a:lnTo>
                    <a:pt x="1870659" y="128511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23"/>
                  </a:lnTo>
                  <a:lnTo>
                    <a:pt x="1664652" y="406"/>
                  </a:lnTo>
                  <a:lnTo>
                    <a:pt x="1656245" y="0"/>
                  </a:lnTo>
                  <a:lnTo>
                    <a:pt x="1639404" y="0"/>
                  </a:lnTo>
                  <a:lnTo>
                    <a:pt x="1589392" y="6578"/>
                  </a:lnTo>
                  <a:lnTo>
                    <a:pt x="1541627" y="22796"/>
                  </a:lnTo>
                  <a:lnTo>
                    <a:pt x="1497939" y="48018"/>
                  </a:lnTo>
                  <a:lnTo>
                    <a:pt x="1460017" y="81280"/>
                  </a:lnTo>
                  <a:lnTo>
                    <a:pt x="1429308" y="121297"/>
                  </a:lnTo>
                  <a:lnTo>
                    <a:pt x="1407007" y="166535"/>
                  </a:lnTo>
                  <a:lnTo>
                    <a:pt x="1393952" y="215265"/>
                  </a:lnTo>
                  <a:lnTo>
                    <a:pt x="1391272" y="238125"/>
                  </a:lnTo>
                  <a:lnTo>
                    <a:pt x="56057" y="238125"/>
                  </a:lnTo>
                  <a:lnTo>
                    <a:pt x="20358" y="252920"/>
                  </a:lnTo>
                  <a:lnTo>
                    <a:pt x="381" y="290283"/>
                  </a:lnTo>
                  <a:lnTo>
                    <a:pt x="0" y="294195"/>
                  </a:lnTo>
                  <a:lnTo>
                    <a:pt x="0" y="314325"/>
                  </a:lnTo>
                  <a:lnTo>
                    <a:pt x="1396961" y="314325"/>
                  </a:lnTo>
                  <a:lnTo>
                    <a:pt x="1397228" y="315607"/>
                  </a:lnTo>
                  <a:lnTo>
                    <a:pt x="1413446" y="363372"/>
                  </a:lnTo>
                  <a:lnTo>
                    <a:pt x="1438668" y="407060"/>
                  </a:lnTo>
                  <a:lnTo>
                    <a:pt x="1471930" y="444982"/>
                  </a:lnTo>
                  <a:lnTo>
                    <a:pt x="1511947" y="475691"/>
                  </a:lnTo>
                  <a:lnTo>
                    <a:pt x="1557185" y="497992"/>
                  </a:lnTo>
                  <a:lnTo>
                    <a:pt x="1605915" y="511048"/>
                  </a:lnTo>
                  <a:lnTo>
                    <a:pt x="1639404" y="514350"/>
                  </a:lnTo>
                  <a:lnTo>
                    <a:pt x="1656245" y="514350"/>
                  </a:lnTo>
                  <a:lnTo>
                    <a:pt x="1706257" y="507758"/>
                  </a:lnTo>
                  <a:lnTo>
                    <a:pt x="1754022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02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294195"/>
                  </a:lnTo>
                  <a:close/>
                </a:path>
              </a:pathLst>
            </a:custGeom>
            <a:solidFill>
              <a:srgbClr val="007EB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8836" y="2649448"/>
              <a:ext cx="209964" cy="20267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77875" y="3143694"/>
            <a:ext cx="2689225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20" b="1">
                <a:solidFill>
                  <a:srgbClr val="272525"/>
                </a:solidFill>
                <a:latin typeface="Verdana"/>
                <a:cs typeface="Verdana"/>
              </a:rPr>
              <a:t>Low-</a:t>
            </a:r>
            <a:r>
              <a:rPr dirty="0" sz="1750" spc="-225" b="1">
                <a:solidFill>
                  <a:srgbClr val="272525"/>
                </a:solidFill>
                <a:latin typeface="Verdana"/>
                <a:cs typeface="Verdana"/>
              </a:rPr>
              <a:t>Cost</a:t>
            </a: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200" b="1">
                <a:solidFill>
                  <a:srgbClr val="272525"/>
                </a:solidFill>
                <a:latin typeface="Verdana"/>
                <a:cs typeface="Verdana"/>
              </a:rPr>
              <a:t>IoT</a:t>
            </a: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65" b="1">
                <a:solidFill>
                  <a:srgbClr val="272525"/>
                </a:solidFill>
                <a:latin typeface="Verdana"/>
                <a:cs typeface="Verdana"/>
              </a:rPr>
              <a:t>Sensors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Distributed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network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 using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ESP32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microcontrollers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for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soil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and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ambient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data.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7175" y="2495550"/>
            <a:ext cx="3295650" cy="235267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244975" y="3143694"/>
            <a:ext cx="2893060" cy="14757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20" b="1">
                <a:solidFill>
                  <a:srgbClr val="272525"/>
                </a:solidFill>
                <a:latin typeface="Verdana"/>
                <a:cs typeface="Verdana"/>
              </a:rPr>
              <a:t>LoRaWAN</a:t>
            </a:r>
            <a:r>
              <a:rPr dirty="0" sz="1750" spc="-15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80" b="1">
                <a:solidFill>
                  <a:srgbClr val="272525"/>
                </a:solidFill>
                <a:latin typeface="Verdana"/>
                <a:cs typeface="Verdana"/>
              </a:rPr>
              <a:t>Connectivity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695"/>
              </a:spcBef>
            </a:pP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Long</a:t>
            </a:r>
            <a:r>
              <a:rPr dirty="0" sz="1350" spc="-9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Range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Wide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Area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Network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for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sending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small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packets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over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several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kilometers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in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areas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with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poor</a:t>
            </a:r>
            <a:r>
              <a:rPr dirty="0" sz="1350" spc="-10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internet.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34275" y="2495550"/>
            <a:ext cx="3295650" cy="23526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712075" y="3143694"/>
            <a:ext cx="2852420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35" b="1">
                <a:solidFill>
                  <a:srgbClr val="272525"/>
                </a:solidFill>
                <a:latin typeface="Verdana"/>
                <a:cs typeface="Verdana"/>
              </a:rPr>
              <a:t>Offline-</a:t>
            </a:r>
            <a:r>
              <a:rPr dirty="0" sz="1750" spc="-160" b="1">
                <a:solidFill>
                  <a:srgbClr val="272525"/>
                </a:solidFill>
                <a:latin typeface="Verdana"/>
                <a:cs typeface="Verdana"/>
              </a:rPr>
              <a:t>First</a:t>
            </a:r>
            <a:r>
              <a:rPr dirty="0" sz="1750" spc="-13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140" b="1">
                <a:solidFill>
                  <a:srgbClr val="272525"/>
                </a:solidFill>
                <a:latin typeface="Verdana"/>
                <a:cs typeface="Verdana"/>
              </a:rPr>
              <a:t>Mobile</a:t>
            </a:r>
            <a:r>
              <a:rPr dirty="0" sz="1750" spc="-13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25" b="1">
                <a:solidFill>
                  <a:srgbClr val="272525"/>
                </a:solidFill>
                <a:latin typeface="Verdana"/>
                <a:cs typeface="Verdana"/>
              </a:rPr>
              <a:t>App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Vernacular,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icon-based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Android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application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allowing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input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without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immediate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internet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access.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2" name="object 12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330">
                <a:latin typeface="Verdana"/>
                <a:cs typeface="Verdana"/>
              </a:rPr>
              <a:t>Ensuring</a:t>
            </a:r>
            <a:r>
              <a:rPr dirty="0" spc="-434">
                <a:latin typeface="Verdana"/>
                <a:cs typeface="Verdana"/>
              </a:rPr>
              <a:t> </a:t>
            </a:r>
            <a:r>
              <a:rPr dirty="0" spc="-335">
                <a:latin typeface="Verdana"/>
                <a:cs typeface="Verdana"/>
              </a:rPr>
              <a:t>Trust</a:t>
            </a:r>
            <a:r>
              <a:rPr dirty="0" spc="-434">
                <a:latin typeface="Verdana"/>
                <a:cs typeface="Verdana"/>
              </a:rPr>
              <a:t> </a:t>
            </a:r>
            <a:r>
              <a:rPr dirty="0" spc="-420">
                <a:latin typeface="Verdana"/>
                <a:cs typeface="Verdana"/>
              </a:rPr>
              <a:t>and</a:t>
            </a:r>
            <a:r>
              <a:rPr dirty="0" spc="-434">
                <a:latin typeface="Verdana"/>
                <a:cs typeface="Verdana"/>
              </a:rPr>
              <a:t> </a:t>
            </a:r>
            <a:r>
              <a:rPr dirty="0" spc="-450">
                <a:latin typeface="Verdana"/>
                <a:cs typeface="Verdana"/>
              </a:rPr>
              <a:t>Provenance</a:t>
            </a:r>
            <a:r>
              <a:rPr dirty="0" spc="-434">
                <a:latin typeface="Verdana"/>
                <a:cs typeface="Verdana"/>
              </a:rPr>
              <a:t> </a:t>
            </a:r>
            <a:r>
              <a:rPr dirty="0" spc="-400">
                <a:latin typeface="Verdana"/>
                <a:cs typeface="Verdana"/>
              </a:rPr>
              <a:t>with</a:t>
            </a:r>
            <a:r>
              <a:rPr dirty="0" spc="-430">
                <a:latin typeface="Verdana"/>
                <a:cs typeface="Verdana"/>
              </a:rPr>
              <a:t> </a:t>
            </a:r>
            <a:r>
              <a:rPr dirty="0" spc="-350">
                <a:latin typeface="Verdana"/>
                <a:cs typeface="Verdana"/>
              </a:rPr>
              <a:t>Blockchain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485900"/>
            <a:ext cx="4905375" cy="490537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Blockchain</a:t>
            </a:r>
            <a:r>
              <a:rPr dirty="0" spc="-220"/>
              <a:t> </a:t>
            </a:r>
            <a:r>
              <a:rPr dirty="0" spc="-180"/>
              <a:t>for</a:t>
            </a:r>
            <a:r>
              <a:rPr dirty="0" spc="-220"/>
              <a:t> </a:t>
            </a:r>
            <a:r>
              <a:rPr dirty="0" spc="-20"/>
              <a:t>Trust</a:t>
            </a:r>
          </a:p>
          <a:p>
            <a:pPr marL="12700" marR="5080">
              <a:lnSpc>
                <a:spcPct val="134300"/>
              </a:lnSpc>
              <a:spcBef>
                <a:spcPts val="1275"/>
              </a:spcBef>
            </a:pPr>
            <a:r>
              <a:rPr dirty="0" sz="1350" b="0">
                <a:solidFill>
                  <a:srgbClr val="272525"/>
                </a:solidFill>
                <a:latin typeface="Verdana"/>
                <a:cs typeface="Verdana"/>
              </a:rPr>
              <a:t>A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permissioned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 b="0">
                <a:solidFill>
                  <a:srgbClr val="272525"/>
                </a:solidFill>
                <a:latin typeface="Verdana"/>
                <a:cs typeface="Verdana"/>
              </a:rPr>
              <a:t>blockchain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(like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 b="0">
                <a:solidFill>
                  <a:srgbClr val="272525"/>
                </a:solidFill>
                <a:latin typeface="Verdana"/>
                <a:cs typeface="Verdana"/>
              </a:rPr>
              <a:t>Hyperledger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525"/>
                </a:solidFill>
                <a:latin typeface="Verdana"/>
                <a:cs typeface="Verdana"/>
              </a:rPr>
              <a:t>Fabric) </a:t>
            </a:r>
            <a:r>
              <a:rPr dirty="0" sz="1350" spc="-25" b="0">
                <a:solidFill>
                  <a:srgbClr val="272525"/>
                </a:solidFill>
                <a:latin typeface="Verdana"/>
                <a:cs typeface="Verdana"/>
              </a:rPr>
              <a:t>records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 b="0">
                <a:solidFill>
                  <a:srgbClr val="272525"/>
                </a:solidFill>
                <a:latin typeface="Verdana"/>
                <a:cs typeface="Verdana"/>
              </a:rPr>
              <a:t>every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submission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 b="0">
                <a:solidFill>
                  <a:srgbClr val="272525"/>
                </a:solidFill>
                <a:latin typeface="Verdana"/>
                <a:cs typeface="Verdana"/>
              </a:rPr>
              <a:t>as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an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immutable</a:t>
            </a:r>
            <a:r>
              <a:rPr dirty="0" sz="1350" spc="-8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525"/>
                </a:solidFill>
                <a:latin typeface="Verdana"/>
                <a:cs typeface="Verdana"/>
              </a:rPr>
              <a:t>transaction.</a:t>
            </a:r>
            <a:endParaRPr sz="1350">
              <a:latin typeface="Verdana"/>
              <a:cs typeface="Verdana"/>
            </a:endParaRPr>
          </a:p>
          <a:p>
            <a:pPr marL="12700" marR="416559">
              <a:lnSpc>
                <a:spcPct val="134300"/>
              </a:lnSpc>
              <a:spcBef>
                <a:spcPts val="1200"/>
              </a:spcBef>
            </a:pPr>
            <a:r>
              <a:rPr dirty="0" sz="1350" spc="-20" b="0">
                <a:solidFill>
                  <a:srgbClr val="272525"/>
                </a:solidFill>
                <a:latin typeface="Verdana"/>
                <a:cs typeface="Verdana"/>
              </a:rPr>
              <a:t>This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525"/>
                </a:solidFill>
                <a:latin typeface="Verdana"/>
                <a:cs typeface="Verdana"/>
              </a:rPr>
              <a:t>ensures</a:t>
            </a:r>
            <a:r>
              <a:rPr dirty="0" sz="1350" spc="-5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data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provenance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 b="0">
                <a:solidFill>
                  <a:srgbClr val="272525"/>
                </a:solidFill>
                <a:latin typeface="Verdana"/>
                <a:cs typeface="Verdana"/>
              </a:rPr>
              <a:t>transparency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 b="0">
                <a:solidFill>
                  <a:srgbClr val="272525"/>
                </a:solidFill>
                <a:latin typeface="Verdana"/>
                <a:cs typeface="Verdana"/>
              </a:rPr>
              <a:t>for 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managing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an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incentive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 b="0">
                <a:solidFill>
                  <a:srgbClr val="272525"/>
                </a:solidFill>
                <a:latin typeface="Verdana"/>
                <a:cs typeface="Verdana"/>
              </a:rPr>
              <a:t>system</a:t>
            </a:r>
            <a:r>
              <a:rPr dirty="0" sz="1350" spc="-7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through</a:t>
            </a:r>
            <a:r>
              <a:rPr dirty="0" sz="1350" spc="-75" b="0">
                <a:solidFill>
                  <a:srgbClr val="272525"/>
                </a:solidFill>
                <a:latin typeface="Verdana"/>
                <a:cs typeface="Verdana"/>
              </a:rPr>
              <a:t> smart </a:t>
            </a:r>
            <a:r>
              <a:rPr dirty="0" sz="1350" spc="-10" b="0">
                <a:solidFill>
                  <a:srgbClr val="272525"/>
                </a:solidFill>
                <a:latin typeface="Verdana"/>
                <a:cs typeface="Verdana"/>
              </a:rPr>
              <a:t>contracts </a:t>
            </a:r>
            <a:r>
              <a:rPr dirty="0" sz="1350" spc="-90" b="0">
                <a:solidFill>
                  <a:srgbClr val="272525"/>
                </a:solidFill>
                <a:latin typeface="Verdana"/>
                <a:cs typeface="Verdana"/>
              </a:rPr>
              <a:t>(e.g.,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micropayments </a:t>
            </a:r>
            <a:r>
              <a:rPr dirty="0" sz="1350" spc="-45" b="0">
                <a:solidFill>
                  <a:srgbClr val="272525"/>
                </a:solidFill>
                <a:latin typeface="Verdana"/>
                <a:cs typeface="Verdana"/>
              </a:rPr>
              <a:t>or</a:t>
            </a:r>
            <a:r>
              <a:rPr dirty="0" sz="1350" spc="-60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272525"/>
                </a:solidFill>
                <a:latin typeface="Verdana"/>
                <a:cs typeface="Verdana"/>
              </a:rPr>
              <a:t>premium</a:t>
            </a:r>
            <a:r>
              <a:rPr dirty="0" sz="1350" spc="-65" b="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525"/>
                </a:solidFill>
                <a:latin typeface="Verdana"/>
                <a:cs typeface="Verdana"/>
              </a:rPr>
              <a:t>access).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547866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59">
                <a:latin typeface="Verdana"/>
                <a:cs typeface="Verdana"/>
              </a:rPr>
              <a:t>Phased</a:t>
            </a:r>
            <a:r>
              <a:rPr dirty="0" spc="-420">
                <a:latin typeface="Verdana"/>
                <a:cs typeface="Verdana"/>
              </a:rPr>
              <a:t> </a:t>
            </a:r>
            <a:r>
              <a:rPr dirty="0" spc="-409">
                <a:latin typeface="Verdana"/>
                <a:cs typeface="Verdana"/>
              </a:rPr>
              <a:t>Implementation</a:t>
            </a:r>
            <a:r>
              <a:rPr dirty="0" spc="-415">
                <a:latin typeface="Verdana"/>
                <a:cs typeface="Verdana"/>
              </a:rPr>
              <a:t> </a:t>
            </a:r>
            <a:r>
              <a:rPr dirty="0" spc="-490">
                <a:latin typeface="Verdana"/>
                <a:cs typeface="Verdana"/>
              </a:rPr>
              <a:t>Strategy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94717" y="1632942"/>
            <a:ext cx="5039995" cy="525145"/>
            <a:chOff x="594717" y="1632942"/>
            <a:chExt cx="5039995" cy="525145"/>
          </a:xfrm>
        </p:grpSpPr>
        <p:sp>
          <p:nvSpPr>
            <p:cNvPr id="4" name="object 4" descr=""/>
            <p:cNvSpPr/>
            <p:nvPr/>
          </p:nvSpPr>
          <p:spPr>
            <a:xfrm>
              <a:off x="600074" y="1638300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4600575" y="0"/>
                  </a:moveTo>
                  <a:lnTo>
                    <a:pt x="4600575" y="85725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4600575" y="428625"/>
                  </a:lnTo>
                  <a:lnTo>
                    <a:pt x="4600575" y="514350"/>
                  </a:lnTo>
                  <a:lnTo>
                    <a:pt x="5029200" y="257175"/>
                  </a:lnTo>
                  <a:lnTo>
                    <a:pt x="4600575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075" y="1638300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0" y="85725"/>
                  </a:moveTo>
                  <a:lnTo>
                    <a:pt x="4600575" y="85725"/>
                  </a:lnTo>
                  <a:lnTo>
                    <a:pt x="4600575" y="0"/>
                  </a:lnTo>
                  <a:lnTo>
                    <a:pt x="5029200" y="257175"/>
                  </a:lnTo>
                  <a:lnTo>
                    <a:pt x="4600575" y="514350"/>
                  </a:lnTo>
                  <a:lnTo>
                    <a:pt x="4600575" y="428625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071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8825" y="2286444"/>
            <a:ext cx="4385310" cy="1199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35" b="1">
                <a:solidFill>
                  <a:srgbClr val="272525"/>
                </a:solidFill>
                <a:latin typeface="Verdana"/>
                <a:cs typeface="Verdana"/>
              </a:rPr>
              <a:t>Pilot</a:t>
            </a: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225" b="1">
                <a:solidFill>
                  <a:srgbClr val="272525"/>
                </a:solidFill>
                <a:latin typeface="Verdana"/>
                <a:cs typeface="Verdana"/>
              </a:rPr>
              <a:t>Program</a:t>
            </a:r>
            <a:r>
              <a:rPr dirty="0" sz="1750" spc="-17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210" b="1">
                <a:solidFill>
                  <a:srgbClr val="272525"/>
                </a:solidFill>
                <a:latin typeface="Verdana"/>
                <a:cs typeface="Verdana"/>
              </a:rPr>
              <a:t>with</a:t>
            </a:r>
            <a:r>
              <a:rPr dirty="0" sz="1750" spc="-18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20" b="1">
                <a:solidFill>
                  <a:srgbClr val="272525"/>
                </a:solidFill>
                <a:latin typeface="Verdana"/>
                <a:cs typeface="Verdana"/>
              </a:rPr>
              <a:t>FPOs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710"/>
              </a:spcBef>
            </a:pP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Start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with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tech-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savvy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Farmer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Producer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Organizations.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Deploy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community-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owned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sensor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kits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train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core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farmers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to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refine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technology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build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trust.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795367" y="1375767"/>
            <a:ext cx="5039995" cy="525145"/>
            <a:chOff x="5795367" y="1375767"/>
            <a:chExt cx="5039995" cy="525145"/>
          </a:xfrm>
        </p:grpSpPr>
        <p:sp>
          <p:nvSpPr>
            <p:cNvPr id="8" name="object 8" descr=""/>
            <p:cNvSpPr/>
            <p:nvPr/>
          </p:nvSpPr>
          <p:spPr>
            <a:xfrm>
              <a:off x="5800724" y="138112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4600575" y="0"/>
                  </a:moveTo>
                  <a:lnTo>
                    <a:pt x="4600575" y="85725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4600575" y="428625"/>
                  </a:lnTo>
                  <a:lnTo>
                    <a:pt x="4600575" y="514350"/>
                  </a:lnTo>
                  <a:lnTo>
                    <a:pt x="5029200" y="257175"/>
                  </a:lnTo>
                  <a:lnTo>
                    <a:pt x="4600575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00725" y="1381124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0" y="85725"/>
                  </a:moveTo>
                  <a:lnTo>
                    <a:pt x="4600575" y="85725"/>
                  </a:lnTo>
                  <a:lnTo>
                    <a:pt x="4600575" y="0"/>
                  </a:lnTo>
                  <a:lnTo>
                    <a:pt x="5029200" y="257175"/>
                  </a:lnTo>
                  <a:lnTo>
                    <a:pt x="4600575" y="514350"/>
                  </a:lnTo>
                  <a:lnTo>
                    <a:pt x="4600575" y="428625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071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959475" y="2029269"/>
            <a:ext cx="4283075" cy="1199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65" b="1">
                <a:solidFill>
                  <a:srgbClr val="272525"/>
                </a:solidFill>
                <a:latin typeface="Verdana"/>
                <a:cs typeface="Verdana"/>
              </a:rPr>
              <a:t>Model</a:t>
            </a:r>
            <a:r>
              <a:rPr dirty="0" sz="1750" spc="-17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120" b="1">
                <a:solidFill>
                  <a:srgbClr val="272525"/>
                </a:solidFill>
                <a:latin typeface="Verdana"/>
                <a:cs typeface="Verdana"/>
              </a:rPr>
              <a:t>Bootstrapping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710"/>
              </a:spcBef>
            </a:pPr>
            <a:r>
              <a:rPr dirty="0" sz="1350">
                <a:solidFill>
                  <a:srgbClr val="272525"/>
                </a:solidFill>
                <a:latin typeface="Verdana"/>
                <a:cs typeface="Verdana"/>
              </a:rPr>
              <a:t>Use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initial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collected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to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train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a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AC9EF5"/>
                </a:solidFill>
                <a:latin typeface="Verdana"/>
                <a:cs typeface="Verdana"/>
              </a:rPr>
              <a:t>stacked</a:t>
            </a:r>
            <a:r>
              <a:rPr dirty="0" sz="1350" spc="-85">
                <a:solidFill>
                  <a:srgbClr val="AC9EF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AC9EF5"/>
                </a:solidFill>
                <a:latin typeface="Verdana"/>
                <a:cs typeface="Verdana"/>
              </a:rPr>
              <a:t>ensemble </a:t>
            </a:r>
            <a:r>
              <a:rPr dirty="0" sz="1350" spc="-45">
                <a:solidFill>
                  <a:srgbClr val="AC9EF5"/>
                </a:solidFill>
                <a:latin typeface="Verdana"/>
                <a:cs typeface="Verdana"/>
              </a:rPr>
              <a:t>machine</a:t>
            </a:r>
            <a:r>
              <a:rPr dirty="0" sz="1350" spc="-65">
                <a:solidFill>
                  <a:srgbClr val="AC9EF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AC9EF5"/>
                </a:solidFill>
                <a:latin typeface="Verdana"/>
                <a:cs typeface="Verdana"/>
              </a:rPr>
              <a:t>learning</a:t>
            </a:r>
            <a:r>
              <a:rPr dirty="0" sz="1350" spc="-60">
                <a:solidFill>
                  <a:srgbClr val="AC9EF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AC9EF5"/>
                </a:solidFill>
                <a:latin typeface="Verdana"/>
                <a:cs typeface="Verdana"/>
              </a:rPr>
              <a:t>model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,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combining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algorithms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like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Random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Forest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XGBoost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for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high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accuracy.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94717" y="4118967"/>
            <a:ext cx="5039995" cy="525145"/>
            <a:chOff x="594717" y="4118967"/>
            <a:chExt cx="5039995" cy="525145"/>
          </a:xfrm>
        </p:grpSpPr>
        <p:sp>
          <p:nvSpPr>
            <p:cNvPr id="12" name="object 12" descr=""/>
            <p:cNvSpPr/>
            <p:nvPr/>
          </p:nvSpPr>
          <p:spPr>
            <a:xfrm>
              <a:off x="600074" y="4124325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4600575" y="0"/>
                  </a:moveTo>
                  <a:lnTo>
                    <a:pt x="4600575" y="85725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4600575" y="428625"/>
                  </a:lnTo>
                  <a:lnTo>
                    <a:pt x="4600575" y="514350"/>
                  </a:lnTo>
                  <a:lnTo>
                    <a:pt x="5029200" y="257175"/>
                  </a:lnTo>
                  <a:lnTo>
                    <a:pt x="4600575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0075" y="4124325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0" y="85725"/>
                  </a:moveTo>
                  <a:lnTo>
                    <a:pt x="4600575" y="85725"/>
                  </a:lnTo>
                  <a:lnTo>
                    <a:pt x="4600575" y="0"/>
                  </a:lnTo>
                  <a:lnTo>
                    <a:pt x="5029200" y="257175"/>
                  </a:lnTo>
                  <a:lnTo>
                    <a:pt x="4600575" y="514350"/>
                  </a:lnTo>
                  <a:lnTo>
                    <a:pt x="4600575" y="428625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071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58825" y="4772469"/>
            <a:ext cx="4601845" cy="1485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20" b="1">
                <a:solidFill>
                  <a:srgbClr val="272525"/>
                </a:solidFill>
                <a:latin typeface="Verdana"/>
                <a:cs typeface="Verdana"/>
              </a:rPr>
              <a:t>Federated</a:t>
            </a:r>
            <a:r>
              <a:rPr dirty="0" sz="1750" spc="-160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50" b="1">
                <a:solidFill>
                  <a:srgbClr val="272525"/>
                </a:solidFill>
                <a:latin typeface="Verdana"/>
                <a:cs typeface="Verdana"/>
              </a:rPr>
              <a:t>Learning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770"/>
              </a:spcBef>
            </a:pP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Transition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to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a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 privacy-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preserving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model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where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525"/>
                </a:solidFill>
                <a:latin typeface="Verdana"/>
                <a:cs typeface="Verdana"/>
              </a:rPr>
              <a:t>ML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is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trained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locally.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Only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anonymized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model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updates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are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Verdana"/>
                <a:cs typeface="Verdana"/>
              </a:rPr>
              <a:t>sent 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centrally,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ensuring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raw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data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never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leaves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the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farmer's control.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795367" y="3861792"/>
            <a:ext cx="5039995" cy="525145"/>
            <a:chOff x="5795367" y="3861792"/>
            <a:chExt cx="5039995" cy="525145"/>
          </a:xfrm>
        </p:grpSpPr>
        <p:sp>
          <p:nvSpPr>
            <p:cNvPr id="16" name="object 16" descr=""/>
            <p:cNvSpPr/>
            <p:nvPr/>
          </p:nvSpPr>
          <p:spPr>
            <a:xfrm>
              <a:off x="5800724" y="3867150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4600575" y="0"/>
                  </a:moveTo>
                  <a:lnTo>
                    <a:pt x="4600575" y="85725"/>
                  </a:lnTo>
                  <a:lnTo>
                    <a:pt x="0" y="85725"/>
                  </a:lnTo>
                  <a:lnTo>
                    <a:pt x="0" y="428625"/>
                  </a:lnTo>
                  <a:lnTo>
                    <a:pt x="4600575" y="428625"/>
                  </a:lnTo>
                  <a:lnTo>
                    <a:pt x="4600575" y="514350"/>
                  </a:lnTo>
                  <a:lnTo>
                    <a:pt x="5029200" y="257175"/>
                  </a:lnTo>
                  <a:lnTo>
                    <a:pt x="4600575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00725" y="3867150"/>
              <a:ext cx="5029200" cy="514350"/>
            </a:xfrm>
            <a:custGeom>
              <a:avLst/>
              <a:gdLst/>
              <a:ahLst/>
              <a:cxnLst/>
              <a:rect l="l" t="t" r="r" b="b"/>
              <a:pathLst>
                <a:path w="5029200" h="514350">
                  <a:moveTo>
                    <a:pt x="0" y="85725"/>
                  </a:moveTo>
                  <a:lnTo>
                    <a:pt x="4600575" y="85725"/>
                  </a:lnTo>
                  <a:lnTo>
                    <a:pt x="4600575" y="0"/>
                  </a:lnTo>
                  <a:lnTo>
                    <a:pt x="5029200" y="257175"/>
                  </a:lnTo>
                  <a:lnTo>
                    <a:pt x="4600575" y="514350"/>
                  </a:lnTo>
                  <a:lnTo>
                    <a:pt x="4600575" y="428625"/>
                  </a:lnTo>
                  <a:lnTo>
                    <a:pt x="0" y="428625"/>
                  </a:lnTo>
                  <a:lnTo>
                    <a:pt x="0" y="85725"/>
                  </a:lnTo>
                  <a:close/>
                </a:path>
              </a:pathLst>
            </a:custGeom>
            <a:ln w="1071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959475" y="4515294"/>
            <a:ext cx="449326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200" b="1">
                <a:solidFill>
                  <a:srgbClr val="272525"/>
                </a:solidFill>
                <a:latin typeface="Verdana"/>
                <a:cs typeface="Verdana"/>
              </a:rPr>
              <a:t>Regional</a:t>
            </a:r>
            <a:r>
              <a:rPr dirty="0" sz="1750" spc="-155" b="1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750" spc="-65" b="1">
                <a:solidFill>
                  <a:srgbClr val="272525"/>
                </a:solidFill>
                <a:latin typeface="Verdana"/>
                <a:cs typeface="Verdana"/>
              </a:rPr>
              <a:t>Expansion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819"/>
              </a:spcBef>
            </a:pPr>
            <a:r>
              <a:rPr dirty="0" sz="1350" spc="-25">
                <a:solidFill>
                  <a:srgbClr val="272525"/>
                </a:solidFill>
                <a:latin typeface="Verdana"/>
                <a:cs typeface="Verdana"/>
              </a:rPr>
              <a:t>Scale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up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to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more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525"/>
                </a:solidFill>
                <a:latin typeface="Verdana"/>
                <a:cs typeface="Verdana"/>
              </a:rPr>
              <a:t>districts</a:t>
            </a:r>
            <a:r>
              <a:rPr dirty="0" sz="1350" spc="-7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8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Verdana"/>
                <a:cs typeface="Verdana"/>
              </a:rPr>
              <a:t>states,</a:t>
            </a:r>
            <a:r>
              <a:rPr dirty="0" sz="1350" spc="-8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continuously </a:t>
            </a:r>
            <a:r>
              <a:rPr dirty="0" sz="1350" spc="-50">
                <a:solidFill>
                  <a:srgbClr val="272525"/>
                </a:solidFill>
                <a:latin typeface="Verdana"/>
                <a:cs typeface="Verdana"/>
              </a:rPr>
              <a:t>refining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models</a:t>
            </a:r>
            <a:r>
              <a:rPr dirty="0" sz="1350" spc="-65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525"/>
                </a:solidFill>
                <a:latin typeface="Verdana"/>
                <a:cs typeface="Verdana"/>
              </a:rPr>
              <a:t>with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increasingly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525"/>
                </a:solidFill>
                <a:latin typeface="Verdana"/>
                <a:cs typeface="Verdana"/>
              </a:rPr>
              <a:t>diverse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525"/>
                </a:solidFill>
                <a:latin typeface="Verdana"/>
                <a:cs typeface="Verdana"/>
              </a:rPr>
              <a:t>and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525"/>
                </a:solidFill>
                <a:latin typeface="Verdana"/>
                <a:cs typeface="Verdana"/>
              </a:rPr>
              <a:t>rich</a:t>
            </a:r>
            <a:r>
              <a:rPr dirty="0" sz="1350" spc="-70">
                <a:solidFill>
                  <a:srgbClr val="272525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Verdana"/>
                <a:cs typeface="Verdana"/>
              </a:rPr>
              <a:t>data.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object 19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419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699418"/>
            <a:ext cx="6797040" cy="5657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14"/>
              <a:t>The</a:t>
            </a:r>
            <a:r>
              <a:rPr dirty="0" spc="-240"/>
              <a:t> </a:t>
            </a:r>
            <a:r>
              <a:rPr dirty="0" spc="-320"/>
              <a:t>Power</a:t>
            </a:r>
            <a:r>
              <a:rPr dirty="0" spc="-235"/>
              <a:t> </a:t>
            </a:r>
            <a:r>
              <a:rPr dirty="0" spc="-165"/>
              <a:t>of</a:t>
            </a:r>
            <a:r>
              <a:rPr dirty="0" spc="-235"/>
              <a:t> </a:t>
            </a:r>
            <a:r>
              <a:rPr dirty="0" spc="-225"/>
              <a:t>Federated</a:t>
            </a:r>
            <a:r>
              <a:rPr dirty="0" spc="-240"/>
              <a:t> </a:t>
            </a:r>
            <a:r>
              <a:rPr dirty="0" spc="-90"/>
              <a:t>Learning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657475"/>
            <a:ext cx="1181100" cy="11811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941258" y="2619819"/>
            <a:ext cx="1797050" cy="14757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50" b="1">
                <a:solidFill>
                  <a:srgbClr val="272525"/>
                </a:solidFill>
                <a:latin typeface="Tahoma"/>
                <a:cs typeface="Tahoma"/>
              </a:rPr>
              <a:t>Local</a:t>
            </a:r>
            <a:r>
              <a:rPr dirty="0" sz="1750" spc="-8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Training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695"/>
              </a:spcBef>
            </a:pP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The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ML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model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is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trained</a:t>
            </a:r>
            <a:r>
              <a:rPr dirty="0" sz="1350" spc="1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directly</a:t>
            </a:r>
            <a:r>
              <a:rPr dirty="0" sz="1350" spc="1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on</a:t>
            </a:r>
            <a:r>
              <a:rPr dirty="0" sz="1350" spc="1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Tahoma"/>
                <a:cs typeface="Tahoma"/>
              </a:rPr>
              <a:t>the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farmer's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device</a:t>
            </a:r>
            <a:r>
              <a:rPr dirty="0" sz="1350" spc="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or</a:t>
            </a:r>
            <a:r>
              <a:rPr dirty="0" sz="1350" spc="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72525"/>
                </a:solidFill>
                <a:latin typeface="Tahoma"/>
                <a:cs typeface="Tahoma"/>
              </a:rPr>
              <a:t>a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local</a:t>
            </a:r>
            <a:r>
              <a:rPr dirty="0" sz="1350" spc="-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272525"/>
                </a:solidFill>
                <a:latin typeface="Tahoma"/>
                <a:cs typeface="Tahoma"/>
              </a:rPr>
              <a:t>FPO</a:t>
            </a:r>
            <a:r>
              <a:rPr dirty="0" sz="1350" spc="-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server.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25" y="2657475"/>
            <a:ext cx="1181100" cy="11811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422646" y="2619819"/>
            <a:ext cx="1880870" cy="175196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75" b="1">
                <a:solidFill>
                  <a:srgbClr val="272525"/>
                </a:solidFill>
                <a:latin typeface="Tahoma"/>
                <a:cs typeface="Tahoma"/>
              </a:rPr>
              <a:t>Privacy </a:t>
            </a:r>
            <a:r>
              <a:rPr dirty="0" sz="1750" spc="-60" b="1">
                <a:solidFill>
                  <a:srgbClr val="272525"/>
                </a:solidFill>
                <a:latin typeface="Tahoma"/>
                <a:cs typeface="Tahoma"/>
              </a:rPr>
              <a:t>Preserved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690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Raw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data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remains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on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the</a:t>
            </a:r>
            <a:r>
              <a:rPr dirty="0" sz="1350" spc="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device,</a:t>
            </a:r>
            <a:r>
              <a:rPr dirty="0" sz="1350" spc="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addressing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farmer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concerns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about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data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ownership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Tahoma"/>
                <a:cs typeface="Tahoma"/>
              </a:rPr>
              <a:t>and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control.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850" y="2657475"/>
            <a:ext cx="1181100" cy="11811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904033" y="2619819"/>
            <a:ext cx="1931035" cy="2037714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664210">
              <a:lnSpc>
                <a:spcPct val="103600"/>
              </a:lnSpc>
              <a:spcBef>
                <a:spcPts val="45"/>
              </a:spcBef>
            </a:pP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Central </a:t>
            </a:r>
            <a:r>
              <a:rPr dirty="0" sz="1750" spc="-100" b="1">
                <a:solidFill>
                  <a:srgbClr val="272525"/>
                </a:solidFill>
                <a:latin typeface="Tahoma"/>
                <a:cs typeface="Tahoma"/>
              </a:rPr>
              <a:t>Aggregation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Only</a:t>
            </a:r>
            <a:r>
              <a:rPr dirty="0" sz="1350" spc="-3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anonymized</a:t>
            </a:r>
            <a:r>
              <a:rPr dirty="0" sz="1350" spc="50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model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updates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are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sent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to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the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central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server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Tahoma"/>
                <a:cs typeface="Tahoma"/>
              </a:rPr>
              <a:t>for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global</a:t>
            </a:r>
            <a:r>
              <a:rPr dirty="0" sz="1350" spc="2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model improvement.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65"/>
              <a:t>Transformative</a:t>
            </a:r>
            <a:r>
              <a:rPr dirty="0" spc="-195"/>
              <a:t> </a:t>
            </a:r>
            <a:r>
              <a:rPr dirty="0" spc="-175"/>
              <a:t>Benefits</a:t>
            </a:r>
            <a:r>
              <a:rPr dirty="0" spc="-190"/>
              <a:t> </a:t>
            </a:r>
            <a:r>
              <a:rPr dirty="0" spc="-110"/>
              <a:t>for</a:t>
            </a:r>
            <a:r>
              <a:rPr dirty="0" spc="-195"/>
              <a:t> </a:t>
            </a:r>
            <a:r>
              <a:rPr dirty="0" spc="-145"/>
              <a:t>Indian</a:t>
            </a:r>
            <a:r>
              <a:rPr dirty="0" spc="-190"/>
              <a:t> </a:t>
            </a:r>
            <a:r>
              <a:rPr dirty="0" spc="-105"/>
              <a:t>Farmers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466849"/>
            <a:ext cx="5029200" cy="1981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68350" y="2295969"/>
            <a:ext cx="433959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75" b="1">
                <a:solidFill>
                  <a:srgbClr val="272525"/>
                </a:solidFill>
                <a:latin typeface="Tahoma"/>
                <a:cs typeface="Tahoma"/>
              </a:rPr>
              <a:t>Hyper-Localized</a:t>
            </a:r>
            <a:r>
              <a:rPr dirty="0" sz="1750" spc="-2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Advisories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819"/>
              </a:spcBef>
            </a:pP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Tailored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advice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for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specific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field</a:t>
            </a:r>
            <a:r>
              <a:rPr dirty="0" sz="1350" spc="9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conditions,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including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precise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irrigation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13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optimized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fertilizer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plans.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0725" y="1466849"/>
            <a:ext cx="5029200" cy="19812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69000" y="2295969"/>
            <a:ext cx="4593590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05" b="1">
                <a:solidFill>
                  <a:srgbClr val="272525"/>
                </a:solidFill>
                <a:latin typeface="Tahoma"/>
                <a:cs typeface="Tahoma"/>
              </a:rPr>
              <a:t>Increased</a:t>
            </a:r>
            <a:r>
              <a:rPr dirty="0" sz="1750" spc="-5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Profitability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819"/>
              </a:spcBef>
            </a:pP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Reduced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costs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by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optimizing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input</a:t>
            </a:r>
            <a:r>
              <a:rPr dirty="0" sz="1350" spc="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use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(water,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fertilizer)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1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better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yield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predictions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for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optimal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selling</a:t>
            </a:r>
            <a:r>
              <a:rPr dirty="0" sz="1350" spc="12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decisions.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3619500"/>
            <a:ext cx="5029200" cy="225742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68350" y="4448619"/>
            <a:ext cx="4637405" cy="12090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114" b="1">
                <a:solidFill>
                  <a:srgbClr val="272525"/>
                </a:solidFill>
                <a:latin typeface="Tahoma"/>
                <a:cs typeface="Tahoma"/>
              </a:rPr>
              <a:t>Data</a:t>
            </a:r>
            <a:r>
              <a:rPr dirty="0" sz="1750" spc="-8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70" b="1">
                <a:solidFill>
                  <a:srgbClr val="272525"/>
                </a:solidFill>
                <a:latin typeface="Tahoma"/>
                <a:cs typeface="Tahoma"/>
              </a:rPr>
              <a:t>Monetization</a:t>
            </a:r>
            <a:r>
              <a:rPr dirty="0" sz="1750" spc="-8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50" b="1">
                <a:solidFill>
                  <a:srgbClr val="272525"/>
                </a:solidFill>
                <a:latin typeface="Tahoma"/>
                <a:cs typeface="Tahoma"/>
              </a:rPr>
              <a:t>&amp;</a:t>
            </a:r>
            <a:r>
              <a:rPr dirty="0" sz="1750" spc="-8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Ownership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Blockchain</a:t>
            </a:r>
            <a:r>
              <a:rPr dirty="0" sz="1350" spc="-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ensures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farmers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own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their data,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potentially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creating</a:t>
            </a:r>
            <a:r>
              <a:rPr dirty="0" sz="1350" spc="8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new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revenue</a:t>
            </a:r>
            <a:r>
              <a:rPr dirty="0" sz="1350" spc="8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stream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through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anonymized</a:t>
            </a:r>
            <a:r>
              <a:rPr dirty="0" sz="1350" spc="8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Tahoma"/>
                <a:cs typeface="Tahoma"/>
              </a:rPr>
              <a:t>data 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sales.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800725" y="3619500"/>
            <a:ext cx="5029200" cy="2257425"/>
            <a:chOff x="5800725" y="3619500"/>
            <a:chExt cx="5029200" cy="2257425"/>
          </a:xfrm>
        </p:grpSpPr>
        <p:sp>
          <p:nvSpPr>
            <p:cNvPr id="10" name="object 10" descr=""/>
            <p:cNvSpPr/>
            <p:nvPr/>
          </p:nvSpPr>
          <p:spPr>
            <a:xfrm>
              <a:off x="5805487" y="3624262"/>
              <a:ext cx="5019675" cy="2247900"/>
            </a:xfrm>
            <a:custGeom>
              <a:avLst/>
              <a:gdLst/>
              <a:ahLst/>
              <a:cxnLst/>
              <a:rect l="l" t="t" r="r" b="b"/>
              <a:pathLst>
                <a:path w="5019675" h="2247900">
                  <a:moveTo>
                    <a:pt x="49680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192656"/>
                  </a:lnTo>
                  <a:lnTo>
                    <a:pt x="0" y="2196282"/>
                  </a:lnTo>
                  <a:lnTo>
                    <a:pt x="18745" y="2234283"/>
                  </a:lnTo>
                  <a:lnTo>
                    <a:pt x="51612" y="2247896"/>
                  </a:lnTo>
                  <a:lnTo>
                    <a:pt x="4968062" y="2247896"/>
                  </a:lnTo>
                  <a:lnTo>
                    <a:pt x="5006060" y="2229153"/>
                  </a:lnTo>
                  <a:lnTo>
                    <a:pt x="5019675" y="2196282"/>
                  </a:lnTo>
                  <a:lnTo>
                    <a:pt x="5019675" y="51612"/>
                  </a:lnTo>
                  <a:lnTo>
                    <a:pt x="5000929" y="13614"/>
                  </a:lnTo>
                  <a:lnTo>
                    <a:pt x="4971643" y="355"/>
                  </a:lnTo>
                  <a:lnTo>
                    <a:pt x="4968062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805487" y="3624262"/>
              <a:ext cx="5019675" cy="2247900"/>
            </a:xfrm>
            <a:custGeom>
              <a:avLst/>
              <a:gdLst/>
              <a:ahLst/>
              <a:cxnLst/>
              <a:rect l="l" t="t" r="r" b="b"/>
              <a:pathLst>
                <a:path w="5019675" h="2247900">
                  <a:moveTo>
                    <a:pt x="0" y="219265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964430" y="0"/>
                  </a:lnTo>
                  <a:lnTo>
                    <a:pt x="4968062" y="0"/>
                  </a:lnTo>
                  <a:lnTo>
                    <a:pt x="4971643" y="355"/>
                  </a:lnTo>
                  <a:lnTo>
                    <a:pt x="4975199" y="1066"/>
                  </a:lnTo>
                  <a:lnTo>
                    <a:pt x="4978768" y="1765"/>
                  </a:lnTo>
                  <a:lnTo>
                    <a:pt x="4982222" y="2819"/>
                  </a:lnTo>
                  <a:lnTo>
                    <a:pt x="4985562" y="4203"/>
                  </a:lnTo>
                  <a:lnTo>
                    <a:pt x="4988928" y="5588"/>
                  </a:lnTo>
                  <a:lnTo>
                    <a:pt x="4992103" y="7289"/>
                  </a:lnTo>
                  <a:lnTo>
                    <a:pt x="4995113" y="9309"/>
                  </a:lnTo>
                  <a:lnTo>
                    <a:pt x="4998135" y="11328"/>
                  </a:lnTo>
                  <a:lnTo>
                    <a:pt x="5000929" y="13614"/>
                  </a:lnTo>
                  <a:lnTo>
                    <a:pt x="5003495" y="16179"/>
                  </a:lnTo>
                  <a:lnTo>
                    <a:pt x="5006060" y="18745"/>
                  </a:lnTo>
                  <a:lnTo>
                    <a:pt x="5018608" y="44462"/>
                  </a:lnTo>
                  <a:lnTo>
                    <a:pt x="5019319" y="48018"/>
                  </a:lnTo>
                  <a:lnTo>
                    <a:pt x="5019675" y="51612"/>
                  </a:lnTo>
                  <a:lnTo>
                    <a:pt x="5019675" y="55245"/>
                  </a:lnTo>
                  <a:lnTo>
                    <a:pt x="5019675" y="2192656"/>
                  </a:lnTo>
                  <a:lnTo>
                    <a:pt x="5019675" y="2196282"/>
                  </a:lnTo>
                  <a:lnTo>
                    <a:pt x="5019319" y="2199873"/>
                  </a:lnTo>
                  <a:lnTo>
                    <a:pt x="5018608" y="2203430"/>
                  </a:lnTo>
                  <a:lnTo>
                    <a:pt x="5017909" y="2206988"/>
                  </a:lnTo>
                  <a:lnTo>
                    <a:pt x="4995113" y="2238589"/>
                  </a:lnTo>
                  <a:lnTo>
                    <a:pt x="4992103" y="2240603"/>
                  </a:lnTo>
                  <a:lnTo>
                    <a:pt x="4988928" y="2242305"/>
                  </a:lnTo>
                  <a:lnTo>
                    <a:pt x="4985562" y="2243693"/>
                  </a:lnTo>
                  <a:lnTo>
                    <a:pt x="4982222" y="2245083"/>
                  </a:lnTo>
                  <a:lnTo>
                    <a:pt x="4964430" y="2247901"/>
                  </a:lnTo>
                  <a:lnTo>
                    <a:pt x="55245" y="2247901"/>
                  </a:lnTo>
                  <a:lnTo>
                    <a:pt x="34099" y="2243693"/>
                  </a:lnTo>
                  <a:lnTo>
                    <a:pt x="30746" y="2242305"/>
                  </a:lnTo>
                  <a:lnTo>
                    <a:pt x="4203" y="2213794"/>
                  </a:lnTo>
                  <a:lnTo>
                    <a:pt x="2819" y="2210446"/>
                  </a:lnTo>
                  <a:lnTo>
                    <a:pt x="1765" y="2206988"/>
                  </a:lnTo>
                  <a:lnTo>
                    <a:pt x="1066" y="2203430"/>
                  </a:lnTo>
                  <a:lnTo>
                    <a:pt x="355" y="2199873"/>
                  </a:lnTo>
                  <a:lnTo>
                    <a:pt x="0" y="2196282"/>
                  </a:lnTo>
                  <a:lnTo>
                    <a:pt x="0" y="2192656"/>
                  </a:lnTo>
                  <a:close/>
                </a:path>
              </a:pathLst>
            </a:custGeom>
            <a:ln w="9525">
              <a:solidFill>
                <a:srgbClr val="AC9E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81699" y="38004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1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79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4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69"/>
                  </a:lnTo>
                  <a:lnTo>
                    <a:pt x="475691" y="393052"/>
                  </a:lnTo>
                  <a:lnTo>
                    <a:pt x="497992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1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AC9E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9449" y="4025473"/>
              <a:ext cx="241682" cy="6718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969000" y="4448619"/>
            <a:ext cx="4609465" cy="9328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-80" b="1">
                <a:solidFill>
                  <a:srgbClr val="272525"/>
                </a:solidFill>
                <a:latin typeface="Tahoma"/>
                <a:cs typeface="Tahoma"/>
              </a:rPr>
              <a:t>Democratization</a:t>
            </a:r>
            <a:r>
              <a:rPr dirty="0" sz="1750" spc="-5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80" b="1">
                <a:solidFill>
                  <a:srgbClr val="272525"/>
                </a:solidFill>
                <a:latin typeface="Tahoma"/>
                <a:cs typeface="Tahoma"/>
              </a:rPr>
              <a:t>of</a:t>
            </a:r>
            <a:r>
              <a:rPr dirty="0" sz="1750" spc="-50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Technology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70"/>
              </a:spcBef>
            </a:pP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Advanced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precision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agriculture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tools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become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accessible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15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affordable</a:t>
            </a:r>
            <a:r>
              <a:rPr dirty="0" sz="1350" spc="16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for</a:t>
            </a:r>
            <a:r>
              <a:rPr dirty="0" sz="1350" spc="16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smallholder</a:t>
            </a:r>
            <a:r>
              <a:rPr dirty="0" sz="1350" spc="16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farmers.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5" name="object 15" descr="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005" y="6744934"/>
            <a:ext cx="65786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solidFill>
                  <a:srgbClr val="5B5B5B"/>
                </a:solidFill>
                <a:latin typeface="Arial MT"/>
                <a:cs typeface="Arial MT"/>
              </a:rPr>
              <a:t>Image</a:t>
            </a:r>
            <a:r>
              <a:rPr dirty="0" sz="1200" spc="18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5D5D5D"/>
                </a:solidFill>
                <a:latin typeface="Arial MT"/>
                <a:cs typeface="Arial MT"/>
              </a:rPr>
              <a:t>-</a:t>
            </a:r>
            <a:r>
              <a:rPr dirty="0" sz="1200" spc="-50">
                <a:solidFill>
                  <a:srgbClr val="5D5D5D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8566" y="2941284"/>
            <a:ext cx="48133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140">
                <a:solidFill>
                  <a:srgbClr val="262626"/>
                </a:solidFill>
                <a:latin typeface="Arial MT"/>
                <a:cs typeface="Arial MT"/>
              </a:rPr>
              <a:t>Sea</a:t>
            </a:r>
            <a:r>
              <a:rPr dirty="0" sz="1200" spc="1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200" spc="-114">
                <a:solidFill>
                  <a:srgbClr val="262626"/>
                </a:solidFill>
                <a:latin typeface="Arial MT"/>
                <a:cs typeface="Arial MT"/>
              </a:rPr>
              <a:t>use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70620" y="204258"/>
            <a:ext cx="1250315" cy="20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>
                <a:solidFill>
                  <a:srgbClr val="212121"/>
                </a:solidFill>
                <a:latin typeface="Arial MT"/>
                <a:cs typeface="Arial MT"/>
              </a:rPr>
              <a:t>Crog</a:t>
            </a:r>
            <a:r>
              <a:rPr dirty="0" sz="11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55">
                <a:solidFill>
                  <a:srgbClr val="54412F"/>
                </a:solidFill>
                <a:latin typeface="Arial MT"/>
                <a:cs typeface="Arial MT"/>
              </a:rPr>
              <a:t>Daia</a:t>
            </a:r>
            <a:r>
              <a:rPr dirty="0" sz="1150" spc="-5">
                <a:solidFill>
                  <a:srgbClr val="54412F"/>
                </a:solidFill>
                <a:latin typeface="Arial MT"/>
                <a:cs typeface="Arial MT"/>
              </a:rPr>
              <a:t> </a:t>
            </a:r>
            <a:r>
              <a:rPr dirty="0" sz="1150" spc="-30">
                <a:solidFill>
                  <a:srgbClr val="3B2B16"/>
                </a:solidFill>
                <a:latin typeface="Arial MT"/>
                <a:cs typeface="Arial MT"/>
              </a:rPr>
              <a:t>ColBction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27223" y="2881057"/>
            <a:ext cx="979805" cy="5060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50" spc="204">
                <a:solidFill>
                  <a:srgbClr val="54695D"/>
                </a:solidFill>
                <a:latin typeface="Arial MT"/>
                <a:cs typeface="Arial MT"/>
              </a:rPr>
              <a:t>Deem</a:t>
            </a:r>
            <a:r>
              <a:rPr dirty="0" sz="950" spc="145">
                <a:solidFill>
                  <a:srgbClr val="54695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4D4D4D"/>
                </a:solidFill>
                <a:latin typeface="Arial MT"/>
                <a:cs typeface="Arial MT"/>
              </a:rPr>
              <a:t>liee</a:t>
            </a:r>
            <a:r>
              <a:rPr dirty="0" sz="950" spc="13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66D5B"/>
                </a:solidFill>
                <a:latin typeface="Arial MT"/>
                <a:cs typeface="Arial MT"/>
              </a:rPr>
              <a:t>\Dt</a:t>
            </a:r>
            <a:r>
              <a:rPr dirty="0" sz="950" spc="-80">
                <a:solidFill>
                  <a:srgbClr val="566D5B"/>
                </a:solidFill>
                <a:latin typeface="Arial MT"/>
                <a:cs typeface="Arial MT"/>
              </a:rPr>
              <a:t> </a:t>
            </a:r>
            <a:r>
              <a:rPr dirty="0" sz="950" spc="-50">
                <a:solidFill>
                  <a:srgbClr val="728C77"/>
                </a:solidFill>
                <a:latin typeface="Arial MT"/>
                <a:cs typeface="Arial MT"/>
              </a:rPr>
              <a:t>I</a:t>
            </a:r>
            <a:endParaRPr sz="95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solidFill>
                  <a:srgbClr val="424242"/>
                </a:solidFill>
                <a:latin typeface="Arial MT"/>
                <a:cs typeface="Arial MT"/>
              </a:rPr>
              <a:t>Forost</a:t>
            </a:r>
            <a:r>
              <a:rPr dirty="0" sz="850" spc="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2A2A2A"/>
                </a:solidFill>
                <a:latin typeface="Arial MT"/>
                <a:cs typeface="Arial MT"/>
              </a:rPr>
              <a:t>(RFP</a:t>
            </a:r>
            <a:endParaRPr sz="85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204"/>
              </a:spcBef>
            </a:pPr>
            <a:r>
              <a:rPr dirty="0" sz="950" spc="-25">
                <a:solidFill>
                  <a:srgbClr val="1F1F1F"/>
                </a:solidFill>
                <a:latin typeface="Arial MT"/>
                <a:cs typeface="Arial MT"/>
              </a:rPr>
              <a:t>ANN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14428" y="3527601"/>
            <a:ext cx="946150" cy="6451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2A2A2A"/>
                </a:solidFill>
                <a:latin typeface="Arial MT"/>
                <a:cs typeface="Arial MT"/>
              </a:rPr>
              <a:t>LST€4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>
                <a:solidFill>
                  <a:srgbClr val="333333"/>
                </a:solidFill>
                <a:latin typeface="Arial MT"/>
                <a:cs typeface="Arial MT"/>
              </a:rPr>
              <a:t>ML/DL</a:t>
            </a:r>
            <a:r>
              <a:rPr dirty="0" sz="1000" spc="1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A3A3A"/>
                </a:solidFill>
                <a:latin typeface="Arial MT"/>
                <a:cs typeface="Arial MT"/>
              </a:rPr>
              <a:t>Modules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15682" y="5182834"/>
            <a:ext cx="704215" cy="3695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6510" marR="5080" indent="-4445">
              <a:lnSpc>
                <a:spcPts val="1250"/>
              </a:lnSpc>
              <a:spcBef>
                <a:spcPts val="315"/>
              </a:spcBef>
            </a:pPr>
            <a:r>
              <a:rPr dirty="0" sz="1200" spc="-80">
                <a:solidFill>
                  <a:srgbClr val="161616"/>
                </a:solidFill>
                <a:latin typeface="Arial MT"/>
                <a:cs typeface="Arial MT"/>
              </a:rPr>
              <a:t>Testng</a:t>
            </a:r>
            <a:r>
              <a:rPr dirty="0" sz="1200" spc="3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282828"/>
                </a:solidFill>
                <a:latin typeface="Arial MT"/>
                <a:cs typeface="Arial MT"/>
              </a:rPr>
              <a:t>ard </a:t>
            </a:r>
            <a:r>
              <a:rPr dirty="0" sz="1200" spc="-10">
                <a:solidFill>
                  <a:srgbClr val="1C1C1C"/>
                </a:solidFill>
                <a:latin typeface="Arial MT"/>
                <a:cs typeface="Arial MT"/>
              </a:rPr>
              <a:t>Evaluator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387571" y="3055231"/>
            <a:ext cx="463550" cy="196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0">
                <a:solidFill>
                  <a:srgbClr val="52492F"/>
                </a:solidFill>
                <a:latin typeface="Arial MT"/>
                <a:cs typeface="Arial MT"/>
              </a:rPr>
              <a:t>Train</a:t>
            </a:r>
            <a:r>
              <a:rPr dirty="0" sz="1100" spc="-45">
                <a:solidFill>
                  <a:srgbClr val="52492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2492F"/>
                </a:solidFill>
                <a:latin typeface="Arial MT"/>
                <a:cs typeface="Arial MT"/>
              </a:rPr>
              <a:t>rq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852203" y="5169958"/>
            <a:ext cx="911225" cy="361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1340"/>
              </a:lnSpc>
              <a:spcBef>
                <a:spcPts val="114"/>
              </a:spcBef>
            </a:pPr>
            <a:r>
              <a:rPr dirty="0" sz="1150" spc="-10">
                <a:solidFill>
                  <a:srgbClr val="494949"/>
                </a:solidFill>
                <a:latin typeface="Arial MT"/>
                <a:cs typeface="Arial MT"/>
              </a:rPr>
              <a:t>Decision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ts val="1280"/>
              </a:lnSpc>
            </a:pPr>
            <a:r>
              <a:rPr dirty="0" sz="1100" spc="-40">
                <a:solidFill>
                  <a:srgbClr val="313131"/>
                </a:solidFill>
                <a:latin typeface="Arial MT"/>
                <a:cs typeface="Arial MT"/>
              </a:rPr>
              <a:t>(Based</a:t>
            </a:r>
            <a:r>
              <a:rPr dirty="0" sz="1100" spc="-2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100" spc="-120">
                <a:solidFill>
                  <a:srgbClr val="494949"/>
                </a:solidFill>
                <a:latin typeface="Arial MT"/>
                <a:cs typeface="Arial MT"/>
              </a:rPr>
              <a:t>On</a:t>
            </a:r>
            <a:r>
              <a:rPr dirty="0" sz="1100" spc="-6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1F1F1F"/>
                </a:solidFill>
                <a:latin typeface="Arial MT"/>
                <a:cs typeface="Arial MT"/>
              </a:rPr>
              <a:t>b8St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95418" y="6592358"/>
            <a:ext cx="608965" cy="20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35">
                <a:solidFill>
                  <a:srgbClr val="462321"/>
                </a:solidFill>
                <a:latin typeface="Arial MT"/>
                <a:cs typeface="Arial MT"/>
              </a:rPr>
              <a:t>Predation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91673" y="5233811"/>
            <a:ext cx="619760" cy="38354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70815" marR="5080" indent="-158750">
              <a:lnSpc>
                <a:spcPts val="1300"/>
              </a:lnSpc>
              <a:spcBef>
                <a:spcPts val="320"/>
              </a:spcBef>
            </a:pPr>
            <a:r>
              <a:rPr dirty="0" sz="1250" spc="-145">
                <a:solidFill>
                  <a:srgbClr val="1F1F1F"/>
                </a:solidFill>
                <a:latin typeface="Arial MT"/>
                <a:cs typeface="Arial MT"/>
              </a:rPr>
              <a:t>New</a:t>
            </a:r>
            <a:r>
              <a:rPr dirty="0" sz="1250" spc="-1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1250" spc="-125">
                <a:solidFill>
                  <a:srgbClr val="232323"/>
                </a:solidFill>
                <a:latin typeface="Arial MT"/>
                <a:cs typeface="Arial MT"/>
              </a:rPr>
              <a:t>Crop </a:t>
            </a:r>
            <a:r>
              <a:rPr dirty="0" sz="1250" spc="-20">
                <a:solidFill>
                  <a:srgbClr val="4D3B26"/>
                </a:solidFill>
                <a:latin typeface="Arial MT"/>
                <a:cs typeface="Arial MT"/>
              </a:rPr>
              <a:t>Data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50"/>
              <a:t>Addressing</a:t>
            </a:r>
            <a:r>
              <a:rPr dirty="0" spc="-215"/>
              <a:t> </a:t>
            </a:r>
            <a:r>
              <a:rPr dirty="0" spc="-290"/>
              <a:t>Key</a:t>
            </a:r>
            <a:r>
              <a:rPr dirty="0" spc="-210"/>
              <a:t> </a:t>
            </a:r>
            <a:r>
              <a:rPr dirty="0" spc="-160"/>
              <a:t>Challenges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1847850"/>
            <a:ext cx="10229850" cy="4305300"/>
            <a:chOff x="600075" y="1847850"/>
            <a:chExt cx="10229850" cy="4305300"/>
          </a:xfrm>
        </p:grpSpPr>
        <p:sp>
          <p:nvSpPr>
            <p:cNvPr id="4" name="object 4" descr=""/>
            <p:cNvSpPr/>
            <p:nvPr/>
          </p:nvSpPr>
          <p:spPr>
            <a:xfrm>
              <a:off x="5219700" y="1847849"/>
              <a:ext cx="514350" cy="4305300"/>
            </a:xfrm>
            <a:custGeom>
              <a:avLst/>
              <a:gdLst/>
              <a:ahLst/>
              <a:cxnLst/>
              <a:rect l="l" t="t" r="r" b="b"/>
              <a:pathLst>
                <a:path w="514350" h="4305300">
                  <a:moveTo>
                    <a:pt x="514350" y="683171"/>
                  </a:moveTo>
                  <a:lnTo>
                    <a:pt x="513422" y="680923"/>
                  </a:lnTo>
                  <a:lnTo>
                    <a:pt x="509701" y="677202"/>
                  </a:lnTo>
                  <a:lnTo>
                    <a:pt x="507453" y="676275"/>
                  </a:lnTo>
                  <a:lnTo>
                    <a:pt x="504825" y="676275"/>
                  </a:lnTo>
                  <a:lnTo>
                    <a:pt x="504825" y="6896"/>
                  </a:lnTo>
                  <a:lnTo>
                    <a:pt x="503897" y="4648"/>
                  </a:lnTo>
                  <a:lnTo>
                    <a:pt x="500176" y="927"/>
                  </a:lnTo>
                  <a:lnTo>
                    <a:pt x="497928" y="0"/>
                  </a:lnTo>
                  <a:lnTo>
                    <a:pt x="492671" y="0"/>
                  </a:lnTo>
                  <a:lnTo>
                    <a:pt x="490423" y="927"/>
                  </a:lnTo>
                  <a:lnTo>
                    <a:pt x="486702" y="4648"/>
                  </a:lnTo>
                  <a:lnTo>
                    <a:pt x="485775" y="6896"/>
                  </a:lnTo>
                  <a:lnTo>
                    <a:pt x="485775" y="676275"/>
                  </a:lnTo>
                  <a:lnTo>
                    <a:pt x="6896" y="676275"/>
                  </a:lnTo>
                  <a:lnTo>
                    <a:pt x="4648" y="677202"/>
                  </a:lnTo>
                  <a:lnTo>
                    <a:pt x="927" y="680923"/>
                  </a:lnTo>
                  <a:lnTo>
                    <a:pt x="0" y="683171"/>
                  </a:lnTo>
                  <a:lnTo>
                    <a:pt x="0" y="685800"/>
                  </a:lnTo>
                  <a:lnTo>
                    <a:pt x="0" y="688428"/>
                  </a:lnTo>
                  <a:lnTo>
                    <a:pt x="927" y="690676"/>
                  </a:lnTo>
                  <a:lnTo>
                    <a:pt x="4648" y="694397"/>
                  </a:lnTo>
                  <a:lnTo>
                    <a:pt x="6896" y="695325"/>
                  </a:lnTo>
                  <a:lnTo>
                    <a:pt x="485775" y="695325"/>
                  </a:lnTo>
                  <a:lnTo>
                    <a:pt x="485775" y="4295775"/>
                  </a:lnTo>
                  <a:lnTo>
                    <a:pt x="485775" y="4298404"/>
                  </a:lnTo>
                  <a:lnTo>
                    <a:pt x="486702" y="4300652"/>
                  </a:lnTo>
                  <a:lnTo>
                    <a:pt x="490423" y="4304373"/>
                  </a:lnTo>
                  <a:lnTo>
                    <a:pt x="492671" y="4305300"/>
                  </a:lnTo>
                  <a:lnTo>
                    <a:pt x="497928" y="4305300"/>
                  </a:lnTo>
                  <a:lnTo>
                    <a:pt x="500176" y="4304373"/>
                  </a:lnTo>
                  <a:lnTo>
                    <a:pt x="503897" y="4300652"/>
                  </a:lnTo>
                  <a:lnTo>
                    <a:pt x="504825" y="4298404"/>
                  </a:lnTo>
                  <a:lnTo>
                    <a:pt x="504825" y="695325"/>
                  </a:lnTo>
                  <a:lnTo>
                    <a:pt x="507453" y="695325"/>
                  </a:lnTo>
                  <a:lnTo>
                    <a:pt x="509701" y="694397"/>
                  </a:lnTo>
                  <a:lnTo>
                    <a:pt x="513422" y="690676"/>
                  </a:lnTo>
                  <a:lnTo>
                    <a:pt x="514350" y="688428"/>
                  </a:lnTo>
                  <a:lnTo>
                    <a:pt x="514350" y="683171"/>
                  </a:lnTo>
                  <a:close/>
                </a:path>
              </a:pathLst>
            </a:custGeom>
            <a:solidFill>
              <a:srgbClr val="B2D4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0712" y="2469349"/>
              <a:ext cx="133350" cy="12382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4837" y="185261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4539437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306829"/>
                  </a:lnTo>
                  <a:lnTo>
                    <a:pt x="0" y="1310462"/>
                  </a:lnTo>
                  <a:lnTo>
                    <a:pt x="18747" y="1348460"/>
                  </a:lnTo>
                  <a:lnTo>
                    <a:pt x="51619" y="1362075"/>
                  </a:lnTo>
                  <a:lnTo>
                    <a:pt x="4539437" y="1362075"/>
                  </a:lnTo>
                  <a:lnTo>
                    <a:pt x="4577435" y="1343329"/>
                  </a:lnTo>
                  <a:lnTo>
                    <a:pt x="4591050" y="1310462"/>
                  </a:lnTo>
                  <a:lnTo>
                    <a:pt x="4591050" y="51612"/>
                  </a:lnTo>
                  <a:lnTo>
                    <a:pt x="4572304" y="13614"/>
                  </a:lnTo>
                  <a:lnTo>
                    <a:pt x="4543018" y="355"/>
                  </a:lnTo>
                  <a:lnTo>
                    <a:pt x="45394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4837" y="185261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0" y="1306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31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34102" y="4203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4535805" y="0"/>
                  </a:lnTo>
                  <a:lnTo>
                    <a:pt x="4539437" y="0"/>
                  </a:lnTo>
                  <a:lnTo>
                    <a:pt x="4543018" y="355"/>
                  </a:lnTo>
                  <a:lnTo>
                    <a:pt x="4546574" y="1066"/>
                  </a:lnTo>
                  <a:lnTo>
                    <a:pt x="4550143" y="1765"/>
                  </a:lnTo>
                  <a:lnTo>
                    <a:pt x="4581740" y="24549"/>
                  </a:lnTo>
                  <a:lnTo>
                    <a:pt x="4589983" y="44462"/>
                  </a:lnTo>
                  <a:lnTo>
                    <a:pt x="4590694" y="48031"/>
                  </a:lnTo>
                  <a:lnTo>
                    <a:pt x="4591050" y="51612"/>
                  </a:lnTo>
                  <a:lnTo>
                    <a:pt x="4591050" y="55245"/>
                  </a:lnTo>
                  <a:lnTo>
                    <a:pt x="4591050" y="1306830"/>
                  </a:lnTo>
                  <a:lnTo>
                    <a:pt x="4591050" y="1310462"/>
                  </a:lnTo>
                  <a:lnTo>
                    <a:pt x="4590694" y="1314043"/>
                  </a:lnTo>
                  <a:lnTo>
                    <a:pt x="4589983" y="1317599"/>
                  </a:lnTo>
                  <a:lnTo>
                    <a:pt x="4589284" y="1321168"/>
                  </a:lnTo>
                  <a:lnTo>
                    <a:pt x="4566500" y="1352765"/>
                  </a:lnTo>
                  <a:lnTo>
                    <a:pt x="4546574" y="1361008"/>
                  </a:lnTo>
                  <a:lnTo>
                    <a:pt x="4543018" y="1361719"/>
                  </a:lnTo>
                  <a:lnTo>
                    <a:pt x="4539437" y="1362075"/>
                  </a:lnTo>
                  <a:lnTo>
                    <a:pt x="4535805" y="1362075"/>
                  </a:lnTo>
                  <a:lnTo>
                    <a:pt x="55245" y="1362075"/>
                  </a:lnTo>
                  <a:lnTo>
                    <a:pt x="51619" y="1362075"/>
                  </a:lnTo>
                  <a:lnTo>
                    <a:pt x="48026" y="1361719"/>
                  </a:lnTo>
                  <a:lnTo>
                    <a:pt x="44465" y="1361008"/>
                  </a:lnTo>
                  <a:lnTo>
                    <a:pt x="40907" y="1360309"/>
                  </a:lnTo>
                  <a:lnTo>
                    <a:pt x="9311" y="1337525"/>
                  </a:lnTo>
                  <a:lnTo>
                    <a:pt x="4207" y="1327962"/>
                  </a:lnTo>
                  <a:lnTo>
                    <a:pt x="2818" y="1324622"/>
                  </a:lnTo>
                  <a:lnTo>
                    <a:pt x="1771" y="1321168"/>
                  </a:lnTo>
                  <a:lnTo>
                    <a:pt x="1061" y="1317599"/>
                  </a:lnTo>
                  <a:lnTo>
                    <a:pt x="351" y="1314043"/>
                  </a:lnTo>
                  <a:lnTo>
                    <a:pt x="0" y="1310462"/>
                  </a:lnTo>
                  <a:lnTo>
                    <a:pt x="0" y="1306830"/>
                  </a:lnTo>
                  <a:close/>
                </a:path>
              </a:pathLst>
            </a:custGeom>
            <a:ln w="952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695950" y="3552825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07453" y="19050"/>
                  </a:lnTo>
                  <a:lnTo>
                    <a:pt x="509701" y="18122"/>
                  </a:lnTo>
                  <a:lnTo>
                    <a:pt x="513422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22" y="4648"/>
                  </a:lnTo>
                  <a:lnTo>
                    <a:pt x="509701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B2D4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712" y="3498050"/>
              <a:ext cx="133350" cy="1238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234112" y="288131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45394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306830"/>
                  </a:lnTo>
                  <a:lnTo>
                    <a:pt x="0" y="1310462"/>
                  </a:lnTo>
                  <a:lnTo>
                    <a:pt x="18745" y="1348460"/>
                  </a:lnTo>
                  <a:lnTo>
                    <a:pt x="51612" y="1362075"/>
                  </a:lnTo>
                  <a:lnTo>
                    <a:pt x="4539437" y="1362075"/>
                  </a:lnTo>
                  <a:lnTo>
                    <a:pt x="4577435" y="1343329"/>
                  </a:lnTo>
                  <a:lnTo>
                    <a:pt x="4591050" y="1310462"/>
                  </a:lnTo>
                  <a:lnTo>
                    <a:pt x="4591050" y="51612"/>
                  </a:lnTo>
                  <a:lnTo>
                    <a:pt x="4572304" y="13614"/>
                  </a:lnTo>
                  <a:lnTo>
                    <a:pt x="4543018" y="355"/>
                  </a:lnTo>
                  <a:lnTo>
                    <a:pt x="45394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34112" y="288131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0" y="1306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7452" y="281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535805" y="0"/>
                  </a:lnTo>
                  <a:lnTo>
                    <a:pt x="4539437" y="0"/>
                  </a:lnTo>
                  <a:lnTo>
                    <a:pt x="4543018" y="355"/>
                  </a:lnTo>
                  <a:lnTo>
                    <a:pt x="4546574" y="1066"/>
                  </a:lnTo>
                  <a:lnTo>
                    <a:pt x="4550143" y="1765"/>
                  </a:lnTo>
                  <a:lnTo>
                    <a:pt x="4553597" y="2819"/>
                  </a:lnTo>
                  <a:lnTo>
                    <a:pt x="4556937" y="4203"/>
                  </a:lnTo>
                  <a:lnTo>
                    <a:pt x="4560303" y="5588"/>
                  </a:lnTo>
                  <a:lnTo>
                    <a:pt x="4563478" y="7289"/>
                  </a:lnTo>
                  <a:lnTo>
                    <a:pt x="4566488" y="9309"/>
                  </a:lnTo>
                  <a:lnTo>
                    <a:pt x="4569510" y="11328"/>
                  </a:lnTo>
                  <a:lnTo>
                    <a:pt x="4572304" y="13614"/>
                  </a:lnTo>
                  <a:lnTo>
                    <a:pt x="4574870" y="16179"/>
                  </a:lnTo>
                  <a:lnTo>
                    <a:pt x="4577435" y="18745"/>
                  </a:lnTo>
                  <a:lnTo>
                    <a:pt x="4589983" y="44462"/>
                  </a:lnTo>
                  <a:lnTo>
                    <a:pt x="4590694" y="48018"/>
                  </a:lnTo>
                  <a:lnTo>
                    <a:pt x="4591050" y="51612"/>
                  </a:lnTo>
                  <a:lnTo>
                    <a:pt x="4591050" y="55245"/>
                  </a:lnTo>
                  <a:lnTo>
                    <a:pt x="4591050" y="1306830"/>
                  </a:lnTo>
                  <a:lnTo>
                    <a:pt x="4591050" y="1310462"/>
                  </a:lnTo>
                  <a:lnTo>
                    <a:pt x="4590694" y="1314043"/>
                  </a:lnTo>
                  <a:lnTo>
                    <a:pt x="4589983" y="1317599"/>
                  </a:lnTo>
                  <a:lnTo>
                    <a:pt x="4589284" y="1321168"/>
                  </a:lnTo>
                  <a:lnTo>
                    <a:pt x="4574870" y="1345895"/>
                  </a:lnTo>
                  <a:lnTo>
                    <a:pt x="4572304" y="1348460"/>
                  </a:lnTo>
                  <a:lnTo>
                    <a:pt x="4546574" y="1361008"/>
                  </a:lnTo>
                  <a:lnTo>
                    <a:pt x="4543018" y="1361719"/>
                  </a:lnTo>
                  <a:lnTo>
                    <a:pt x="4539437" y="1362075"/>
                  </a:lnTo>
                  <a:lnTo>
                    <a:pt x="4535805" y="1362075"/>
                  </a:lnTo>
                  <a:lnTo>
                    <a:pt x="55245" y="1362075"/>
                  </a:lnTo>
                  <a:lnTo>
                    <a:pt x="51612" y="1362075"/>
                  </a:lnTo>
                  <a:lnTo>
                    <a:pt x="48018" y="1361719"/>
                  </a:lnTo>
                  <a:lnTo>
                    <a:pt x="44462" y="1361008"/>
                  </a:lnTo>
                  <a:lnTo>
                    <a:pt x="40906" y="1360309"/>
                  </a:lnTo>
                  <a:lnTo>
                    <a:pt x="9309" y="1337525"/>
                  </a:lnTo>
                  <a:lnTo>
                    <a:pt x="4203" y="1327962"/>
                  </a:lnTo>
                  <a:lnTo>
                    <a:pt x="2819" y="1324622"/>
                  </a:lnTo>
                  <a:lnTo>
                    <a:pt x="1765" y="1321168"/>
                  </a:lnTo>
                  <a:lnTo>
                    <a:pt x="1066" y="1317599"/>
                  </a:lnTo>
                  <a:lnTo>
                    <a:pt x="355" y="1314043"/>
                  </a:lnTo>
                  <a:lnTo>
                    <a:pt x="0" y="1310462"/>
                  </a:lnTo>
                  <a:lnTo>
                    <a:pt x="0" y="1306830"/>
                  </a:lnTo>
                  <a:close/>
                </a:path>
              </a:pathLst>
            </a:custGeom>
            <a:ln w="952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19700" y="4410075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07453" y="19050"/>
                  </a:lnTo>
                  <a:lnTo>
                    <a:pt x="509701" y="18122"/>
                  </a:lnTo>
                  <a:lnTo>
                    <a:pt x="513422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22" y="4648"/>
                  </a:lnTo>
                  <a:lnTo>
                    <a:pt x="509701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B2D4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712" y="4355300"/>
              <a:ext cx="133350" cy="12382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04837" y="373856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4539437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306830"/>
                  </a:lnTo>
                  <a:lnTo>
                    <a:pt x="0" y="1310462"/>
                  </a:lnTo>
                  <a:lnTo>
                    <a:pt x="18747" y="1348460"/>
                  </a:lnTo>
                  <a:lnTo>
                    <a:pt x="51619" y="1362075"/>
                  </a:lnTo>
                  <a:lnTo>
                    <a:pt x="4539437" y="1362075"/>
                  </a:lnTo>
                  <a:lnTo>
                    <a:pt x="4577435" y="1343329"/>
                  </a:lnTo>
                  <a:lnTo>
                    <a:pt x="4591050" y="1310462"/>
                  </a:lnTo>
                  <a:lnTo>
                    <a:pt x="4591050" y="51612"/>
                  </a:lnTo>
                  <a:lnTo>
                    <a:pt x="4572304" y="13614"/>
                  </a:lnTo>
                  <a:lnTo>
                    <a:pt x="4543018" y="355"/>
                  </a:lnTo>
                  <a:lnTo>
                    <a:pt x="45394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4837" y="3738562"/>
              <a:ext cx="4591050" cy="1362075"/>
            </a:xfrm>
            <a:custGeom>
              <a:avLst/>
              <a:gdLst/>
              <a:ahLst/>
              <a:cxnLst/>
              <a:rect l="l" t="t" r="r" b="b"/>
              <a:pathLst>
                <a:path w="4591050" h="1362075">
                  <a:moveTo>
                    <a:pt x="0" y="13068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4535805" y="0"/>
                  </a:lnTo>
                  <a:lnTo>
                    <a:pt x="4539437" y="0"/>
                  </a:lnTo>
                  <a:lnTo>
                    <a:pt x="4543018" y="355"/>
                  </a:lnTo>
                  <a:lnTo>
                    <a:pt x="4546574" y="1066"/>
                  </a:lnTo>
                  <a:lnTo>
                    <a:pt x="4550143" y="1765"/>
                  </a:lnTo>
                  <a:lnTo>
                    <a:pt x="4553597" y="2819"/>
                  </a:lnTo>
                  <a:lnTo>
                    <a:pt x="4556950" y="4203"/>
                  </a:lnTo>
                  <a:lnTo>
                    <a:pt x="4560303" y="5588"/>
                  </a:lnTo>
                  <a:lnTo>
                    <a:pt x="4586846" y="34099"/>
                  </a:lnTo>
                  <a:lnTo>
                    <a:pt x="4589983" y="44462"/>
                  </a:lnTo>
                  <a:lnTo>
                    <a:pt x="4590694" y="48018"/>
                  </a:lnTo>
                  <a:lnTo>
                    <a:pt x="4591050" y="51612"/>
                  </a:lnTo>
                  <a:lnTo>
                    <a:pt x="4591050" y="55245"/>
                  </a:lnTo>
                  <a:lnTo>
                    <a:pt x="4591050" y="1306830"/>
                  </a:lnTo>
                  <a:lnTo>
                    <a:pt x="4591050" y="1310462"/>
                  </a:lnTo>
                  <a:lnTo>
                    <a:pt x="4590694" y="1314043"/>
                  </a:lnTo>
                  <a:lnTo>
                    <a:pt x="4589983" y="1317599"/>
                  </a:lnTo>
                  <a:lnTo>
                    <a:pt x="4589284" y="1321168"/>
                  </a:lnTo>
                  <a:lnTo>
                    <a:pt x="4566500" y="1352765"/>
                  </a:lnTo>
                  <a:lnTo>
                    <a:pt x="4546574" y="1361008"/>
                  </a:lnTo>
                  <a:lnTo>
                    <a:pt x="4543018" y="1361719"/>
                  </a:lnTo>
                  <a:lnTo>
                    <a:pt x="4539437" y="1362075"/>
                  </a:lnTo>
                  <a:lnTo>
                    <a:pt x="4535805" y="1362075"/>
                  </a:lnTo>
                  <a:lnTo>
                    <a:pt x="55245" y="1362075"/>
                  </a:lnTo>
                  <a:lnTo>
                    <a:pt x="51619" y="1362075"/>
                  </a:lnTo>
                  <a:lnTo>
                    <a:pt x="48026" y="1361719"/>
                  </a:lnTo>
                  <a:lnTo>
                    <a:pt x="44465" y="1361008"/>
                  </a:lnTo>
                  <a:lnTo>
                    <a:pt x="40907" y="1360309"/>
                  </a:lnTo>
                  <a:lnTo>
                    <a:pt x="9311" y="1337525"/>
                  </a:lnTo>
                  <a:lnTo>
                    <a:pt x="4207" y="1327962"/>
                  </a:lnTo>
                  <a:lnTo>
                    <a:pt x="2818" y="1324622"/>
                  </a:lnTo>
                  <a:lnTo>
                    <a:pt x="1771" y="1321168"/>
                  </a:lnTo>
                  <a:lnTo>
                    <a:pt x="1061" y="1317599"/>
                  </a:lnTo>
                  <a:lnTo>
                    <a:pt x="351" y="1314043"/>
                  </a:lnTo>
                  <a:lnTo>
                    <a:pt x="0" y="1310462"/>
                  </a:lnTo>
                  <a:lnTo>
                    <a:pt x="0" y="1306830"/>
                  </a:lnTo>
                  <a:close/>
                </a:path>
              </a:pathLst>
            </a:custGeom>
            <a:ln w="952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695950" y="5362575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17"/>
                  </a:lnTo>
                  <a:lnTo>
                    <a:pt x="6896" y="19050"/>
                  </a:lnTo>
                  <a:lnTo>
                    <a:pt x="507453" y="19050"/>
                  </a:lnTo>
                  <a:lnTo>
                    <a:pt x="509701" y="18117"/>
                  </a:lnTo>
                  <a:lnTo>
                    <a:pt x="513422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22" y="4648"/>
                  </a:lnTo>
                  <a:lnTo>
                    <a:pt x="509701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B2D4E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0712" y="5307800"/>
              <a:ext cx="133350" cy="13335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234112" y="4595812"/>
              <a:ext cx="4591050" cy="1552575"/>
            </a:xfrm>
            <a:custGeom>
              <a:avLst/>
              <a:gdLst/>
              <a:ahLst/>
              <a:cxnLst/>
              <a:rect l="l" t="t" r="r" b="b"/>
              <a:pathLst>
                <a:path w="4591050" h="1552575">
                  <a:moveTo>
                    <a:pt x="45394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497330"/>
                  </a:lnTo>
                  <a:lnTo>
                    <a:pt x="0" y="1500955"/>
                  </a:lnTo>
                  <a:lnTo>
                    <a:pt x="18745" y="1538956"/>
                  </a:lnTo>
                  <a:lnTo>
                    <a:pt x="51612" y="1552575"/>
                  </a:lnTo>
                  <a:lnTo>
                    <a:pt x="4539437" y="1552575"/>
                  </a:lnTo>
                  <a:lnTo>
                    <a:pt x="4577435" y="1533827"/>
                  </a:lnTo>
                  <a:lnTo>
                    <a:pt x="4591050" y="1500955"/>
                  </a:lnTo>
                  <a:lnTo>
                    <a:pt x="4591050" y="51612"/>
                  </a:lnTo>
                  <a:lnTo>
                    <a:pt x="4572304" y="13614"/>
                  </a:lnTo>
                  <a:lnTo>
                    <a:pt x="4543018" y="355"/>
                  </a:lnTo>
                  <a:lnTo>
                    <a:pt x="4539437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234112" y="4595812"/>
              <a:ext cx="4591050" cy="1552575"/>
            </a:xfrm>
            <a:custGeom>
              <a:avLst/>
              <a:gdLst/>
              <a:ahLst/>
              <a:cxnLst/>
              <a:rect l="l" t="t" r="r" b="b"/>
              <a:pathLst>
                <a:path w="4591050" h="1552575">
                  <a:moveTo>
                    <a:pt x="0" y="14973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31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4535805" y="0"/>
                  </a:lnTo>
                  <a:lnTo>
                    <a:pt x="4539437" y="0"/>
                  </a:lnTo>
                  <a:lnTo>
                    <a:pt x="4543018" y="355"/>
                  </a:lnTo>
                  <a:lnTo>
                    <a:pt x="4546574" y="1066"/>
                  </a:lnTo>
                  <a:lnTo>
                    <a:pt x="4550143" y="1765"/>
                  </a:lnTo>
                  <a:lnTo>
                    <a:pt x="4553597" y="2819"/>
                  </a:lnTo>
                  <a:lnTo>
                    <a:pt x="4556937" y="4203"/>
                  </a:lnTo>
                  <a:lnTo>
                    <a:pt x="4560303" y="5588"/>
                  </a:lnTo>
                  <a:lnTo>
                    <a:pt x="4563478" y="7289"/>
                  </a:lnTo>
                  <a:lnTo>
                    <a:pt x="4566488" y="9309"/>
                  </a:lnTo>
                  <a:lnTo>
                    <a:pt x="4569510" y="11328"/>
                  </a:lnTo>
                  <a:lnTo>
                    <a:pt x="4572304" y="13614"/>
                  </a:lnTo>
                  <a:lnTo>
                    <a:pt x="4574870" y="16179"/>
                  </a:lnTo>
                  <a:lnTo>
                    <a:pt x="4577435" y="18745"/>
                  </a:lnTo>
                  <a:lnTo>
                    <a:pt x="4589983" y="44462"/>
                  </a:lnTo>
                  <a:lnTo>
                    <a:pt x="4590694" y="48031"/>
                  </a:lnTo>
                  <a:lnTo>
                    <a:pt x="4591050" y="51612"/>
                  </a:lnTo>
                  <a:lnTo>
                    <a:pt x="4591050" y="55245"/>
                  </a:lnTo>
                  <a:lnTo>
                    <a:pt x="4591050" y="1497330"/>
                  </a:lnTo>
                  <a:lnTo>
                    <a:pt x="4591050" y="1500955"/>
                  </a:lnTo>
                  <a:lnTo>
                    <a:pt x="4590694" y="1504548"/>
                  </a:lnTo>
                  <a:lnTo>
                    <a:pt x="4589983" y="1508104"/>
                  </a:lnTo>
                  <a:lnTo>
                    <a:pt x="4589284" y="1511661"/>
                  </a:lnTo>
                  <a:lnTo>
                    <a:pt x="4566488" y="1543263"/>
                  </a:lnTo>
                  <a:lnTo>
                    <a:pt x="4563478" y="1545277"/>
                  </a:lnTo>
                  <a:lnTo>
                    <a:pt x="4560303" y="1546979"/>
                  </a:lnTo>
                  <a:lnTo>
                    <a:pt x="4556937" y="1548367"/>
                  </a:lnTo>
                  <a:lnTo>
                    <a:pt x="4553597" y="1549756"/>
                  </a:lnTo>
                  <a:lnTo>
                    <a:pt x="4550143" y="1550803"/>
                  </a:lnTo>
                  <a:lnTo>
                    <a:pt x="4546574" y="1551513"/>
                  </a:lnTo>
                  <a:lnTo>
                    <a:pt x="4543018" y="1552218"/>
                  </a:lnTo>
                  <a:lnTo>
                    <a:pt x="4539437" y="1552575"/>
                  </a:lnTo>
                  <a:lnTo>
                    <a:pt x="4535805" y="1552575"/>
                  </a:lnTo>
                  <a:lnTo>
                    <a:pt x="55245" y="1552575"/>
                  </a:lnTo>
                  <a:lnTo>
                    <a:pt x="51612" y="1552575"/>
                  </a:lnTo>
                  <a:lnTo>
                    <a:pt x="48018" y="1552218"/>
                  </a:lnTo>
                  <a:lnTo>
                    <a:pt x="44462" y="1551513"/>
                  </a:lnTo>
                  <a:lnTo>
                    <a:pt x="40906" y="1550803"/>
                  </a:lnTo>
                  <a:lnTo>
                    <a:pt x="37452" y="1549756"/>
                  </a:lnTo>
                  <a:lnTo>
                    <a:pt x="34099" y="1548367"/>
                  </a:lnTo>
                  <a:lnTo>
                    <a:pt x="30746" y="1546979"/>
                  </a:lnTo>
                  <a:lnTo>
                    <a:pt x="4203" y="1518469"/>
                  </a:lnTo>
                  <a:lnTo>
                    <a:pt x="2819" y="1515120"/>
                  </a:lnTo>
                  <a:lnTo>
                    <a:pt x="1765" y="1511661"/>
                  </a:lnTo>
                  <a:lnTo>
                    <a:pt x="1066" y="1508104"/>
                  </a:lnTo>
                  <a:lnTo>
                    <a:pt x="355" y="1504548"/>
                  </a:lnTo>
                  <a:lnTo>
                    <a:pt x="0" y="1500955"/>
                  </a:lnTo>
                  <a:lnTo>
                    <a:pt x="0" y="1497330"/>
                  </a:lnTo>
                  <a:close/>
                </a:path>
              </a:pathLst>
            </a:custGeom>
            <a:ln w="9525">
              <a:solidFill>
                <a:srgbClr val="B2D4E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87375" y="1387475"/>
            <a:ext cx="9994900" cy="455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Proactive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strategies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are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in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place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to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mitigate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technical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social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hurdles</a:t>
            </a:r>
            <a:r>
              <a:rPr dirty="0" sz="1350" spc="4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during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implementation.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350">
              <a:latin typeface="Tahoma"/>
              <a:cs typeface="Tahoma"/>
            </a:endParaRPr>
          </a:p>
          <a:p>
            <a:pPr marL="1765300">
              <a:lnSpc>
                <a:spcPct val="100000"/>
              </a:lnSpc>
            </a:pPr>
            <a:r>
              <a:rPr dirty="0" sz="1750" spc="-90" b="1">
                <a:solidFill>
                  <a:srgbClr val="272525"/>
                </a:solidFill>
                <a:latin typeface="Tahoma"/>
                <a:cs typeface="Tahoma"/>
              </a:rPr>
              <a:t>Intermittent</a:t>
            </a:r>
            <a:r>
              <a:rPr dirty="0" sz="1750" spc="-1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Connectivity</a:t>
            </a:r>
            <a:endParaRPr sz="1750">
              <a:latin typeface="Tahoma"/>
              <a:cs typeface="Tahoma"/>
            </a:endParaRPr>
          </a:p>
          <a:p>
            <a:pPr algn="r" marR="5554345">
              <a:lnSpc>
                <a:spcPct val="100000"/>
              </a:lnSpc>
              <a:spcBef>
                <a:spcPts val="1225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Mitigation: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272525"/>
                </a:solidFill>
                <a:latin typeface="Tahoma"/>
                <a:cs typeface="Tahoma"/>
              </a:rPr>
              <a:t>Use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of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LoRaWAN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for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5">
                <a:solidFill>
                  <a:srgbClr val="272525"/>
                </a:solidFill>
                <a:latin typeface="Tahoma"/>
                <a:cs typeface="Tahoma"/>
              </a:rPr>
              <a:t>sensors</a:t>
            </a:r>
            <a:r>
              <a:rPr dirty="0" sz="1350" spc="3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72525"/>
                </a:solidFill>
                <a:latin typeface="Tahoma"/>
                <a:cs typeface="Tahoma"/>
              </a:rPr>
              <a:t>an</a:t>
            </a:r>
            <a:endParaRPr sz="1350">
              <a:latin typeface="Tahoma"/>
              <a:cs typeface="Tahoma"/>
            </a:endParaRPr>
          </a:p>
          <a:p>
            <a:pPr algn="r" marR="5554345">
              <a:lnSpc>
                <a:spcPct val="100000"/>
              </a:lnSpc>
              <a:spcBef>
                <a:spcPts val="555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offline-first</a:t>
            </a:r>
            <a:r>
              <a:rPr dirty="0" sz="1350" spc="3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mobile</a:t>
            </a:r>
            <a:r>
              <a:rPr dirty="0" sz="1350" spc="3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application.</a:t>
            </a:r>
            <a:endParaRPr sz="1350">
              <a:latin typeface="Tahoma"/>
              <a:cs typeface="Tahoma"/>
            </a:endParaRPr>
          </a:p>
          <a:p>
            <a:pPr marL="5822950">
              <a:lnSpc>
                <a:spcPct val="100000"/>
              </a:lnSpc>
              <a:spcBef>
                <a:spcPts val="980"/>
              </a:spcBef>
            </a:pPr>
            <a:r>
              <a:rPr dirty="0" sz="1750" spc="-55" b="1">
                <a:solidFill>
                  <a:srgbClr val="272525"/>
                </a:solidFill>
                <a:latin typeface="Tahoma"/>
                <a:cs typeface="Tahoma"/>
              </a:rPr>
              <a:t>Digital</a:t>
            </a:r>
            <a:r>
              <a:rPr dirty="0" sz="1750" spc="-6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Literacy</a:t>
            </a:r>
            <a:endParaRPr sz="1750">
              <a:latin typeface="Tahoma"/>
              <a:cs typeface="Tahoma"/>
            </a:endParaRPr>
          </a:p>
          <a:p>
            <a:pPr marL="5822950" marR="5080">
              <a:lnSpc>
                <a:spcPct val="134300"/>
              </a:lnSpc>
              <a:spcBef>
                <a:spcPts val="670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Mitigation: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Simple,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icon-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based,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vernacular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app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72525"/>
                </a:solidFill>
                <a:latin typeface="Tahoma"/>
                <a:cs typeface="Tahoma"/>
              </a:rPr>
              <a:t>with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voice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assistance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and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on-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ground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272525"/>
                </a:solidFill>
                <a:latin typeface="Tahoma"/>
                <a:cs typeface="Tahoma"/>
              </a:rPr>
              <a:t>FPO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training.</a:t>
            </a:r>
            <a:endParaRPr sz="1350">
              <a:latin typeface="Tahoma"/>
              <a:cs typeface="Tahoma"/>
            </a:endParaRPr>
          </a:p>
          <a:p>
            <a:pPr marL="2859405">
              <a:lnSpc>
                <a:spcPts val="1730"/>
              </a:lnSpc>
            </a:pPr>
            <a:r>
              <a:rPr dirty="0" sz="1750" spc="-80" b="1">
                <a:solidFill>
                  <a:srgbClr val="272525"/>
                </a:solidFill>
                <a:latin typeface="Tahoma"/>
                <a:cs typeface="Tahoma"/>
              </a:rPr>
              <a:t>Cost</a:t>
            </a:r>
            <a:r>
              <a:rPr dirty="0" sz="1750" spc="-110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80" b="1">
                <a:solidFill>
                  <a:srgbClr val="272525"/>
                </a:solidFill>
                <a:latin typeface="Tahoma"/>
                <a:cs typeface="Tahoma"/>
              </a:rPr>
              <a:t>of</a:t>
            </a:r>
            <a:r>
              <a:rPr dirty="0" sz="1750" spc="-105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Sensors</a:t>
            </a:r>
            <a:endParaRPr sz="1750">
              <a:latin typeface="Tahoma"/>
              <a:cs typeface="Tahoma"/>
            </a:endParaRPr>
          </a:p>
          <a:p>
            <a:pPr marL="1124585" marR="5554980" indent="-280035">
              <a:lnSpc>
                <a:spcPct val="134300"/>
              </a:lnSpc>
              <a:spcBef>
                <a:spcPts val="670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Mitigation: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Community-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owned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sensor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model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managed</a:t>
            </a:r>
            <a:r>
              <a:rPr dirty="0" sz="1350" spc="-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272525"/>
                </a:solidFill>
                <a:latin typeface="Tahoma"/>
                <a:cs typeface="Tahoma"/>
              </a:rPr>
              <a:t>by</a:t>
            </a:r>
            <a:r>
              <a:rPr dirty="0" sz="1350" spc="-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95">
                <a:solidFill>
                  <a:srgbClr val="272525"/>
                </a:solidFill>
                <a:latin typeface="Tahoma"/>
                <a:cs typeface="Tahoma"/>
              </a:rPr>
              <a:t>FPOs</a:t>
            </a:r>
            <a:r>
              <a:rPr dirty="0" sz="1350" spc="-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for</a:t>
            </a:r>
            <a:r>
              <a:rPr dirty="0" sz="1350" spc="-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272525"/>
                </a:solidFill>
                <a:latin typeface="Tahoma"/>
                <a:cs typeface="Tahoma"/>
              </a:rPr>
              <a:t>economic</a:t>
            </a:r>
            <a:r>
              <a:rPr dirty="0" sz="1350" spc="-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viability.</a:t>
            </a:r>
            <a:endParaRPr sz="1350">
              <a:latin typeface="Tahoma"/>
              <a:cs typeface="Tahoma"/>
            </a:endParaRPr>
          </a:p>
          <a:p>
            <a:pPr marL="5822950">
              <a:lnSpc>
                <a:spcPts val="1730"/>
              </a:lnSpc>
            </a:pPr>
            <a:r>
              <a:rPr dirty="0" sz="1750" spc="-114" b="1">
                <a:solidFill>
                  <a:srgbClr val="272525"/>
                </a:solidFill>
                <a:latin typeface="Tahoma"/>
                <a:cs typeface="Tahoma"/>
              </a:rPr>
              <a:t>Data</a:t>
            </a:r>
            <a:r>
              <a:rPr dirty="0" sz="1750" spc="-100" b="1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750" spc="-10" b="1">
                <a:solidFill>
                  <a:srgbClr val="272525"/>
                </a:solidFill>
                <a:latin typeface="Tahoma"/>
                <a:cs typeface="Tahoma"/>
              </a:rPr>
              <a:t>Ǫuality</a:t>
            </a:r>
            <a:endParaRPr sz="1750">
              <a:latin typeface="Tahoma"/>
              <a:cs typeface="Tahoma"/>
            </a:endParaRPr>
          </a:p>
          <a:p>
            <a:pPr marL="5822950" marR="260350">
              <a:lnSpc>
                <a:spcPct val="134300"/>
              </a:lnSpc>
              <a:spcBef>
                <a:spcPts val="665"/>
              </a:spcBef>
            </a:pP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Mitigation:</a:t>
            </a:r>
            <a:r>
              <a:rPr dirty="0" sz="1350" spc="2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90">
                <a:solidFill>
                  <a:srgbClr val="272525"/>
                </a:solidFill>
                <a:latin typeface="Tahoma"/>
                <a:cs typeface="Tahoma"/>
              </a:rPr>
              <a:t>Cross-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validation,</a:t>
            </a:r>
            <a:r>
              <a:rPr dirty="0" sz="1350" spc="21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outlier</a:t>
            </a:r>
            <a:r>
              <a:rPr dirty="0" sz="1350" spc="2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272525"/>
                </a:solidFill>
                <a:latin typeface="Tahoma"/>
                <a:cs typeface="Tahoma"/>
              </a:rPr>
              <a:t>detection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algorithms,</a:t>
            </a:r>
            <a:r>
              <a:rPr dirty="0" sz="1350" spc="17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17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smart</a:t>
            </a:r>
            <a:r>
              <a:rPr dirty="0" sz="1350" spc="17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contracts</a:t>
            </a:r>
            <a:r>
              <a:rPr dirty="0" sz="1350" spc="17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rewarding</a:t>
            </a:r>
            <a:r>
              <a:rPr dirty="0" sz="1350" spc="17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high-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quality</a:t>
            </a:r>
            <a:r>
              <a:rPr dirty="0" sz="1350" spc="20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data.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21" name="object 21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61150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14"/>
              <a:t>The</a:t>
            </a:r>
            <a:r>
              <a:rPr dirty="0" spc="-229"/>
              <a:t> </a:t>
            </a:r>
            <a:r>
              <a:rPr dirty="0" spc="-165"/>
              <a:t>Future</a:t>
            </a:r>
            <a:r>
              <a:rPr dirty="0" spc="-229"/>
              <a:t> </a:t>
            </a:r>
            <a:r>
              <a:rPr dirty="0" spc="-165"/>
              <a:t>of</a:t>
            </a:r>
            <a:r>
              <a:rPr dirty="0" spc="-229"/>
              <a:t> </a:t>
            </a:r>
            <a:r>
              <a:rPr dirty="0" spc="-110"/>
              <a:t>Precision</a:t>
            </a:r>
            <a:r>
              <a:rPr dirty="0" spc="-229"/>
              <a:t> </a:t>
            </a:r>
            <a:r>
              <a:rPr dirty="0" spc="-95"/>
              <a:t>Agriculture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306512"/>
            <a:ext cx="9939655" cy="1988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50" spc="-280" b="1">
                <a:latin typeface="Tahoma"/>
                <a:cs typeface="Tahoma"/>
              </a:rPr>
              <a:t>Data-</a:t>
            </a:r>
            <a:r>
              <a:rPr dirty="0" sz="7050" spc="-345" b="1">
                <a:latin typeface="Tahoma"/>
                <a:cs typeface="Tahoma"/>
              </a:rPr>
              <a:t>Driven</a:t>
            </a:r>
            <a:r>
              <a:rPr dirty="0" sz="7050" spc="-490" b="1">
                <a:latin typeface="Tahoma"/>
                <a:cs typeface="Tahoma"/>
              </a:rPr>
              <a:t> </a:t>
            </a:r>
            <a:r>
              <a:rPr dirty="0" sz="7050" spc="-455" b="1">
                <a:latin typeface="Tahoma"/>
                <a:cs typeface="Tahoma"/>
              </a:rPr>
              <a:t>Growth</a:t>
            </a:r>
            <a:endParaRPr sz="70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2610"/>
              </a:spcBef>
            </a:pPr>
            <a:r>
              <a:rPr dirty="0" sz="1350" spc="80">
                <a:solidFill>
                  <a:srgbClr val="272525"/>
                </a:solidFill>
                <a:latin typeface="Tahoma"/>
                <a:cs typeface="Tahoma"/>
              </a:rPr>
              <a:t>By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combining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machine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learning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with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crowdsourced,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ground-truth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data,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272525"/>
                </a:solidFill>
                <a:latin typeface="Tahoma"/>
                <a:cs typeface="Tahoma"/>
              </a:rPr>
              <a:t>we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are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empowering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smallholder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272525"/>
                </a:solidFill>
                <a:latin typeface="Tahoma"/>
                <a:cs typeface="Tahoma"/>
              </a:rPr>
              <a:t>farmers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272525"/>
                </a:solidFill>
                <a:latin typeface="Tahoma"/>
                <a:cs typeface="Tahoma"/>
              </a:rPr>
              <a:t>to</a:t>
            </a:r>
            <a:r>
              <a:rPr dirty="0" sz="1350" spc="45">
                <a:solidFill>
                  <a:srgbClr val="272525"/>
                </a:solidFill>
                <a:latin typeface="Tahoma"/>
                <a:cs typeface="Tahoma"/>
              </a:rPr>
              <a:t> achieve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unprecedented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272525"/>
                </a:solidFill>
                <a:latin typeface="Tahoma"/>
                <a:cs typeface="Tahoma"/>
              </a:rPr>
              <a:t>efficiency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525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272525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525"/>
                </a:solidFill>
                <a:latin typeface="Tahoma"/>
                <a:cs typeface="Tahoma"/>
              </a:rPr>
              <a:t>profitability.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638550"/>
            <a:ext cx="3314700" cy="20574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7650" y="3638550"/>
            <a:ext cx="3314700" cy="20574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05700" y="3638550"/>
            <a:ext cx="3314700" cy="2057401"/>
          </a:xfrm>
          <a:prstGeom prst="rect">
            <a:avLst/>
          </a:prstGeom>
        </p:spPr>
      </p:pic>
      <p:pic>
        <p:nvPicPr>
          <p:cNvPr id="7" name="object 7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740" y="1022702"/>
            <a:ext cx="2356485" cy="4406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00" spc="-40" b="0">
                <a:latin typeface="Times New Roman"/>
                <a:cs typeface="Times New Roman"/>
              </a:rPr>
              <a:t>References</a:t>
            </a:r>
            <a:r>
              <a:rPr dirty="0" sz="2700" spc="-75" b="0">
                <a:latin typeface="Times New Roman"/>
                <a:cs typeface="Times New Roman"/>
              </a:rPr>
              <a:t> </a:t>
            </a:r>
            <a:r>
              <a:rPr dirty="0" sz="2700" spc="-25" b="0">
                <a:latin typeface="Times New Roman"/>
                <a:cs typeface="Times New Roman"/>
              </a:rPr>
              <a:t>Used: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4082" y="1788054"/>
            <a:ext cx="11446510" cy="431419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4604" marR="960755" indent="-1270">
              <a:lnSpc>
                <a:spcPts val="3050"/>
              </a:lnSpc>
              <a:spcBef>
                <a:spcPts val="430"/>
              </a:spcBef>
              <a:buAutoNum type="romanLcPeriod"/>
              <a:tabLst>
                <a:tab pos="14604" algn="l"/>
                <a:tab pos="271145" algn="l"/>
              </a:tabLst>
            </a:pPr>
            <a:r>
              <a:rPr dirty="0" sz="2750" spc="-75">
                <a:latin typeface="Times New Roman"/>
                <a:cs typeface="Times New Roman"/>
              </a:rPr>
              <a:t>Klompenburg,</a:t>
            </a:r>
            <a:r>
              <a:rPr dirty="0" sz="2750" spc="-100">
                <a:latin typeface="Times New Roman"/>
                <a:cs typeface="Times New Roman"/>
              </a:rPr>
              <a:t> </a:t>
            </a:r>
            <a:r>
              <a:rPr dirty="0" sz="2750" spc="-75">
                <a:latin typeface="Times New Roman"/>
                <a:cs typeface="Times New Roman"/>
              </a:rPr>
              <a:t>Thomas</a:t>
            </a:r>
            <a:r>
              <a:rPr dirty="0" sz="2750">
                <a:latin typeface="Times New Roman"/>
                <a:cs typeface="Times New Roman"/>
              </a:rPr>
              <a:t> </a:t>
            </a:r>
            <a:r>
              <a:rPr dirty="0" sz="2750" spc="-130">
                <a:latin typeface="Times New Roman"/>
                <a:cs typeface="Times New Roman"/>
              </a:rPr>
              <a:t>&amp;</a:t>
            </a:r>
            <a:r>
              <a:rPr dirty="0" sz="2750" spc="-60">
                <a:latin typeface="Times New Roman"/>
                <a:cs typeface="Times New Roman"/>
              </a:rPr>
              <a:t> </a:t>
            </a:r>
            <a:r>
              <a:rPr dirty="0" sz="2750" spc="-85">
                <a:latin typeface="Times New Roman"/>
                <a:cs typeface="Times New Roman"/>
              </a:rPr>
              <a:t>Kassahun,</a:t>
            </a:r>
            <a:r>
              <a:rPr dirty="0" sz="2750" spc="-75">
                <a:latin typeface="Times New Roman"/>
                <a:cs typeface="Times New Roman"/>
              </a:rPr>
              <a:t> </a:t>
            </a:r>
            <a:r>
              <a:rPr dirty="0" sz="2750" spc="-110">
                <a:latin typeface="Times New Roman"/>
                <a:cs typeface="Times New Roman"/>
              </a:rPr>
              <a:t>Ayalew</a:t>
            </a:r>
            <a:r>
              <a:rPr dirty="0" sz="2750" spc="-20">
                <a:latin typeface="Times New Roman"/>
                <a:cs typeface="Times New Roman"/>
              </a:rPr>
              <a:t> </a:t>
            </a:r>
            <a:r>
              <a:rPr dirty="0" sz="2750" spc="-130">
                <a:latin typeface="Times New Roman"/>
                <a:cs typeface="Times New Roman"/>
              </a:rPr>
              <a:t>&amp;</a:t>
            </a:r>
            <a:r>
              <a:rPr dirty="0" sz="2750" spc="-70">
                <a:latin typeface="Times New Roman"/>
                <a:cs typeface="Times New Roman"/>
              </a:rPr>
              <a:t> </a:t>
            </a:r>
            <a:r>
              <a:rPr dirty="0" sz="2750" spc="-50">
                <a:latin typeface="Times New Roman"/>
                <a:cs typeface="Times New Roman"/>
              </a:rPr>
              <a:t>Catal,</a:t>
            </a:r>
            <a:r>
              <a:rPr dirty="0" sz="2750" spc="-85">
                <a:latin typeface="Times New Roman"/>
                <a:cs typeface="Times New Roman"/>
              </a:rPr>
              <a:t> </a:t>
            </a:r>
            <a:r>
              <a:rPr dirty="0" sz="2750" spc="-80">
                <a:latin typeface="Times New Roman"/>
                <a:cs typeface="Times New Roman"/>
              </a:rPr>
              <a:t>Cagatay.</a:t>
            </a:r>
            <a:r>
              <a:rPr dirty="0" sz="2750" spc="-5">
                <a:latin typeface="Times New Roman"/>
                <a:cs typeface="Times New Roman"/>
              </a:rPr>
              <a:t> </a:t>
            </a:r>
            <a:r>
              <a:rPr dirty="0" sz="2750" spc="-60">
                <a:latin typeface="Times New Roman"/>
                <a:cs typeface="Times New Roman"/>
              </a:rPr>
              <a:t>(2020).</a:t>
            </a:r>
            <a:r>
              <a:rPr dirty="0" sz="2750" spc="-45">
                <a:latin typeface="Times New Roman"/>
                <a:cs typeface="Times New Roman"/>
              </a:rPr>
              <a:t> </a:t>
            </a:r>
            <a:r>
              <a:rPr dirty="0" sz="2750" spc="-20">
                <a:latin typeface="Times New Roman"/>
                <a:cs typeface="Times New Roman"/>
              </a:rPr>
              <a:t>Crop </a:t>
            </a:r>
            <a:r>
              <a:rPr dirty="0" sz="2750" spc="-45">
                <a:latin typeface="Times New Roman"/>
                <a:cs typeface="Times New Roman"/>
              </a:rPr>
              <a:t>yield</a:t>
            </a:r>
            <a:r>
              <a:rPr dirty="0" sz="2750" spc="-130">
                <a:latin typeface="Times New Roman"/>
                <a:cs typeface="Times New Roman"/>
              </a:rPr>
              <a:t> </a:t>
            </a:r>
            <a:r>
              <a:rPr dirty="0" sz="2750" spc="-55">
                <a:latin typeface="Times New Roman"/>
                <a:cs typeface="Times New Roman"/>
              </a:rPr>
              <a:t>prediction</a:t>
            </a:r>
            <a:r>
              <a:rPr dirty="0" sz="2750" spc="-20">
                <a:latin typeface="Times New Roman"/>
                <a:cs typeface="Times New Roman"/>
              </a:rPr>
              <a:t> </a:t>
            </a:r>
            <a:r>
              <a:rPr dirty="0" sz="2750" spc="-55">
                <a:latin typeface="Times New Roman"/>
                <a:cs typeface="Times New Roman"/>
              </a:rPr>
              <a:t>using</a:t>
            </a:r>
            <a:r>
              <a:rPr dirty="0" sz="2750" spc="-120">
                <a:latin typeface="Times New Roman"/>
                <a:cs typeface="Times New Roman"/>
              </a:rPr>
              <a:t> </a:t>
            </a:r>
            <a:r>
              <a:rPr dirty="0" sz="2750" spc="-65">
                <a:latin typeface="Times New Roman"/>
                <a:cs typeface="Times New Roman"/>
              </a:rPr>
              <a:t>machine</a:t>
            </a:r>
            <a:r>
              <a:rPr dirty="0" sz="2750" spc="-55">
                <a:latin typeface="Times New Roman"/>
                <a:cs typeface="Times New Roman"/>
              </a:rPr>
              <a:t> </a:t>
            </a:r>
            <a:r>
              <a:rPr dirty="0" sz="2750" spc="-60">
                <a:latin typeface="Times New Roman"/>
                <a:cs typeface="Times New Roman"/>
              </a:rPr>
              <a:t>learning</a:t>
            </a:r>
            <a:r>
              <a:rPr dirty="0" sz="2750" spc="-80">
                <a:latin typeface="Times New Roman"/>
                <a:cs typeface="Times New Roman"/>
              </a:rPr>
              <a:t> </a:t>
            </a:r>
            <a:r>
              <a:rPr dirty="0" sz="2750" spc="-70">
                <a:latin typeface="Times New Roman"/>
                <a:cs typeface="Times New Roman"/>
              </a:rPr>
              <a:t>.Computers</a:t>
            </a:r>
            <a:r>
              <a:rPr dirty="0" sz="2750" spc="-40">
                <a:latin typeface="Times New Roman"/>
                <a:cs typeface="Times New Roman"/>
              </a:rPr>
              <a:t> </a:t>
            </a:r>
            <a:r>
              <a:rPr dirty="0" sz="2750" spc="-20">
                <a:latin typeface="Times New Roman"/>
                <a:cs typeface="Times New Roman"/>
              </a:rPr>
              <a:t>and</a:t>
            </a:r>
            <a:r>
              <a:rPr dirty="0" sz="2750" spc="-150">
                <a:latin typeface="Times New Roman"/>
                <a:cs typeface="Times New Roman"/>
              </a:rPr>
              <a:t> </a:t>
            </a:r>
            <a:r>
              <a:rPr dirty="0" sz="2750" spc="-65">
                <a:latin typeface="Times New Roman"/>
                <a:cs typeface="Times New Roman"/>
              </a:rPr>
              <a:t>Electronics</a:t>
            </a:r>
            <a:r>
              <a:rPr dirty="0" sz="2750" spc="-5">
                <a:latin typeface="Times New Roman"/>
                <a:cs typeface="Times New Roman"/>
              </a:rPr>
              <a:t> </a:t>
            </a:r>
            <a:r>
              <a:rPr dirty="0" sz="2750" spc="-25">
                <a:latin typeface="Times New Roman"/>
                <a:cs typeface="Times New Roman"/>
              </a:rPr>
              <a:t>in </a:t>
            </a:r>
            <a:r>
              <a:rPr dirty="0" sz="2750" spc="-60">
                <a:latin typeface="Times New Roman"/>
                <a:cs typeface="Times New Roman"/>
              </a:rPr>
              <a:t>Agriculture. </a:t>
            </a:r>
            <a:r>
              <a:rPr dirty="0" sz="2750" spc="-45">
                <a:latin typeface="Times New Roman"/>
                <a:cs typeface="Times New Roman"/>
              </a:rPr>
              <a:t>177.</a:t>
            </a:r>
            <a:r>
              <a:rPr dirty="0" sz="2750" spc="-125">
                <a:latin typeface="Times New Roman"/>
                <a:cs typeface="Times New Roman"/>
              </a:rPr>
              <a:t> </a:t>
            </a:r>
            <a:r>
              <a:rPr dirty="0" sz="2750" spc="-55">
                <a:latin typeface="Times New Roman"/>
                <a:cs typeface="Times New Roman"/>
              </a:rPr>
              <a:t>105709.</a:t>
            </a:r>
            <a:r>
              <a:rPr dirty="0" sz="2750" spc="-60">
                <a:latin typeface="Times New Roman"/>
                <a:cs typeface="Times New Roman"/>
              </a:rPr>
              <a:t> </a:t>
            </a:r>
            <a:r>
              <a:rPr dirty="0" sz="2750" spc="-10">
                <a:latin typeface="Times New Roman"/>
                <a:cs typeface="Times New Roman"/>
              </a:rPr>
              <a:t>10.1016/</a:t>
            </a:r>
            <a:endParaRPr sz="2750">
              <a:latin typeface="Times New Roman"/>
              <a:cs typeface="Times New Roman"/>
            </a:endParaRPr>
          </a:p>
          <a:p>
            <a:pPr marL="15875" marR="321945" indent="-2540">
              <a:lnSpc>
                <a:spcPts val="3050"/>
              </a:lnSpc>
              <a:spcBef>
                <a:spcPts val="3050"/>
              </a:spcBef>
              <a:buAutoNum type="romanLcPeriod"/>
              <a:tabLst>
                <a:tab pos="15875" algn="l"/>
                <a:tab pos="363220" algn="l"/>
              </a:tabLst>
            </a:pPr>
            <a:r>
              <a:rPr dirty="0" sz="2700" spc="-40">
                <a:latin typeface="Times New Roman"/>
                <a:cs typeface="Times New Roman"/>
              </a:rPr>
              <a:t>ShuaibuN.,</a:t>
            </a:r>
            <a:r>
              <a:rPr dirty="0" sz="2700" spc="-85">
                <a:latin typeface="Times New Roman"/>
                <a:cs typeface="Times New Roman"/>
              </a:rPr>
              <a:t> </a:t>
            </a:r>
            <a:r>
              <a:rPr dirty="0" sz="2700" spc="-45">
                <a:latin typeface="Times New Roman"/>
                <a:cs typeface="Times New Roman"/>
              </a:rPr>
              <a:t>Obunadike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G.</a:t>
            </a:r>
            <a:r>
              <a:rPr dirty="0" sz="2700" spc="-15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N.,</a:t>
            </a:r>
            <a:r>
              <a:rPr dirty="0" sz="2700" spc="-1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and</a:t>
            </a:r>
            <a:r>
              <a:rPr dirty="0" sz="2700" spc="-125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JamiluB.</a:t>
            </a:r>
            <a:r>
              <a:rPr dirty="0" sz="2700" spc="-1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A.,</a:t>
            </a:r>
            <a:r>
              <a:rPr dirty="0" sz="2700" spc="-150">
                <a:latin typeface="Times New Roman"/>
                <a:cs typeface="Times New Roman"/>
              </a:rPr>
              <a:t> </a:t>
            </a:r>
            <a:r>
              <a:rPr dirty="0" sz="2700" spc="-85">
                <a:latin typeface="Times New Roman"/>
                <a:cs typeface="Times New Roman"/>
              </a:rPr>
              <a:t>“CROP </a:t>
            </a:r>
            <a:r>
              <a:rPr dirty="0" sz="2700" spc="-60">
                <a:latin typeface="Times New Roman"/>
                <a:cs typeface="Times New Roman"/>
              </a:rPr>
              <a:t>YIELD</a:t>
            </a:r>
            <a:r>
              <a:rPr dirty="0" sz="2700" spc="-7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PREDICTION </a:t>
            </a:r>
            <a:r>
              <a:rPr dirty="0" sz="2700" spc="-55">
                <a:latin typeface="Times New Roman"/>
                <a:cs typeface="Times New Roman"/>
              </a:rPr>
              <a:t>USING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 spc="-60">
                <a:latin typeface="Times New Roman"/>
                <a:cs typeface="Times New Roman"/>
              </a:rPr>
              <a:t>SELECTED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60">
                <a:latin typeface="Times New Roman"/>
                <a:cs typeface="Times New Roman"/>
              </a:rPr>
              <a:t>MACHINE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-80">
                <a:latin typeface="Times New Roman"/>
                <a:cs typeface="Times New Roman"/>
              </a:rPr>
              <a:t>LEARNING</a:t>
            </a:r>
            <a:r>
              <a:rPr dirty="0" sz="2700" spc="-85">
                <a:latin typeface="Times New Roman"/>
                <a:cs typeface="Times New Roman"/>
              </a:rPr>
              <a:t> </a:t>
            </a:r>
            <a:r>
              <a:rPr dirty="0" sz="2700" spc="-65">
                <a:latin typeface="Times New Roman"/>
                <a:cs typeface="Times New Roman"/>
              </a:rPr>
              <a:t>ALGDRITHMS”,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FJS,</a:t>
            </a:r>
            <a:r>
              <a:rPr dirty="0" sz="2700" spc="-1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vol.</a:t>
            </a:r>
            <a:r>
              <a:rPr dirty="0" sz="2700" spc="-10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8,</a:t>
            </a:r>
            <a:r>
              <a:rPr dirty="0" sz="2700" spc="-17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no.</a:t>
            </a:r>
            <a:r>
              <a:rPr dirty="0" sz="2700" spc="-16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1,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2930"/>
              </a:lnSpc>
            </a:pPr>
            <a:r>
              <a:rPr dirty="0" sz="2700">
                <a:latin typeface="Times New Roman"/>
                <a:cs typeface="Times New Roman"/>
              </a:rPr>
              <a:t>pp.</a:t>
            </a:r>
            <a:r>
              <a:rPr dirty="0" sz="2700" spc="-9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61</a:t>
            </a:r>
            <a:r>
              <a:rPr dirty="0" sz="2700" spc="-12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-</a:t>
            </a:r>
            <a:r>
              <a:rPr dirty="0" sz="2700" spc="-15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68,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 spc="-65">
                <a:latin typeface="Times New Roman"/>
                <a:cs typeface="Times New Roman"/>
              </a:rPr>
              <a:t>Mar. </a:t>
            </a:r>
            <a:r>
              <a:rPr dirty="0" sz="2700" spc="-10">
                <a:latin typeface="Times New Roman"/>
                <a:cs typeface="Times New Roman"/>
              </a:rPr>
              <a:t>2024.</a:t>
            </a:r>
            <a:endParaRPr sz="2700">
              <a:latin typeface="Times New Roman"/>
              <a:cs typeface="Times New Roman"/>
            </a:endParaRPr>
          </a:p>
          <a:p>
            <a:pPr marL="13970">
              <a:lnSpc>
                <a:spcPts val="3145"/>
              </a:lnSpc>
              <a:spcBef>
                <a:spcPts val="2860"/>
              </a:spcBef>
            </a:pPr>
            <a:r>
              <a:rPr dirty="0" sz="2700">
                <a:latin typeface="Times New Roman"/>
                <a:cs typeface="Times New Roman"/>
              </a:rPr>
              <a:t>iii.</a:t>
            </a:r>
            <a:r>
              <a:rPr dirty="0" sz="2700" spc="-17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R.</a:t>
            </a:r>
            <a:r>
              <a:rPr dirty="0" sz="2700" spc="-160">
                <a:latin typeface="Times New Roman"/>
                <a:cs typeface="Times New Roman"/>
              </a:rPr>
              <a:t> </a:t>
            </a:r>
            <a:r>
              <a:rPr dirty="0" sz="2700" spc="-35">
                <a:latin typeface="Times New Roman"/>
                <a:cs typeface="Times New Roman"/>
              </a:rPr>
              <a:t>Gebbers</a:t>
            </a:r>
            <a:r>
              <a:rPr dirty="0" sz="2700" spc="-13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and</a:t>
            </a:r>
            <a:r>
              <a:rPr dirty="0" sz="2700" spc="-155">
                <a:latin typeface="Times New Roman"/>
                <a:cs typeface="Times New Roman"/>
              </a:rPr>
              <a:t> </a:t>
            </a:r>
            <a:r>
              <a:rPr dirty="0" sz="2700" spc="-245">
                <a:latin typeface="Times New Roman"/>
                <a:cs typeface="Times New Roman"/>
              </a:rPr>
              <a:t>V.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I.</a:t>
            </a:r>
            <a:r>
              <a:rPr dirty="0" sz="2700" spc="-220">
                <a:latin typeface="Times New Roman"/>
                <a:cs typeface="Times New Roman"/>
              </a:rPr>
              <a:t> </a:t>
            </a:r>
            <a:r>
              <a:rPr dirty="0" sz="2700" spc="-40">
                <a:latin typeface="Times New Roman"/>
                <a:cs typeface="Times New Roman"/>
              </a:rPr>
              <a:t>Adamchuk,</a:t>
            </a:r>
            <a:r>
              <a:rPr dirty="0" sz="2700" spc="-10">
                <a:latin typeface="Times New Roman"/>
                <a:cs typeface="Times New Roman"/>
              </a:rPr>
              <a:t> “Precision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-40">
                <a:latin typeface="Times New Roman"/>
                <a:cs typeface="Times New Roman"/>
              </a:rPr>
              <a:t>agriculture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and</a:t>
            </a:r>
            <a:r>
              <a:rPr dirty="0" sz="2700" spc="-13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food</a:t>
            </a:r>
            <a:r>
              <a:rPr dirty="0" sz="2700" spc="-1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security,”</a:t>
            </a:r>
            <a:endParaRPr sz="2700">
              <a:latin typeface="Times New Roman"/>
              <a:cs typeface="Times New Roman"/>
            </a:endParaRPr>
          </a:p>
          <a:p>
            <a:pPr marL="13970">
              <a:lnSpc>
                <a:spcPts val="3050"/>
              </a:lnSpc>
            </a:pPr>
            <a:r>
              <a:rPr dirty="0" sz="2700" spc="-80">
                <a:latin typeface="Times New Roman"/>
                <a:cs typeface="Times New Roman"/>
              </a:rPr>
              <a:t>"Data-</a:t>
            </a:r>
            <a:r>
              <a:rPr dirty="0" sz="2700" spc="-25">
                <a:latin typeface="Times New Roman"/>
                <a:cs typeface="Times New Roman"/>
              </a:rPr>
              <a:t>Driven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spc="-35">
                <a:latin typeface="Times New Roman"/>
                <a:cs typeface="Times New Roman"/>
              </a:rPr>
              <a:t>Decision</a:t>
            </a:r>
            <a:r>
              <a:rPr dirty="0" sz="2700" spc="-85">
                <a:latin typeface="Times New Roman"/>
                <a:cs typeface="Times New Roman"/>
              </a:rPr>
              <a:t> </a:t>
            </a:r>
            <a:r>
              <a:rPr dirty="0" sz="2700" spc="-30">
                <a:latin typeface="Times New Roman"/>
                <a:cs typeface="Times New Roman"/>
              </a:rPr>
              <a:t>Support</a:t>
            </a:r>
            <a:r>
              <a:rPr dirty="0" sz="2700" spc="-60">
                <a:latin typeface="Times New Roman"/>
                <a:cs typeface="Times New Roman"/>
              </a:rPr>
              <a:t> </a:t>
            </a:r>
            <a:r>
              <a:rPr dirty="0" sz="2700" spc="-30">
                <a:latin typeface="Times New Roman"/>
                <a:cs typeface="Times New Roman"/>
              </a:rPr>
              <a:t>System</a:t>
            </a:r>
            <a:r>
              <a:rPr dirty="0" sz="2700" spc="-65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for</a:t>
            </a:r>
            <a:r>
              <a:rPr dirty="0" sz="2700" spc="-130">
                <a:latin typeface="Times New Roman"/>
                <a:cs typeface="Times New Roman"/>
              </a:rPr>
              <a:t> </a:t>
            </a:r>
            <a:r>
              <a:rPr dirty="0" sz="2700" spc="-45">
                <a:latin typeface="Times New Roman"/>
                <a:cs typeface="Times New Roman"/>
              </a:rPr>
              <a:t>Precision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 spc="-40">
                <a:latin typeface="Times New Roman"/>
                <a:cs typeface="Times New Roman"/>
              </a:rPr>
              <a:t>Agriculture.,</a:t>
            </a:r>
            <a:r>
              <a:rPr dirty="0" sz="2700" spc="-5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vol.</a:t>
            </a:r>
            <a:r>
              <a:rPr dirty="0" sz="2700" spc="-15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327,</a:t>
            </a:r>
            <a:r>
              <a:rPr dirty="0" sz="2700" spc="-14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no.</a:t>
            </a:r>
            <a:r>
              <a:rPr dirty="0" sz="2700" spc="-17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5967,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3145"/>
              </a:lnSpc>
            </a:pPr>
            <a:r>
              <a:rPr dirty="0" sz="2700">
                <a:latin typeface="Times New Roman"/>
                <a:cs typeface="Times New Roman"/>
              </a:rPr>
              <a:t>pp.</a:t>
            </a:r>
            <a:r>
              <a:rPr dirty="0" sz="2700" spc="-95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828-</a:t>
            </a:r>
            <a:r>
              <a:rPr dirty="0" sz="2700">
                <a:latin typeface="Times New Roman"/>
                <a:cs typeface="Times New Roman"/>
              </a:rPr>
              <a:t>831, Feb.</a:t>
            </a:r>
            <a:r>
              <a:rPr dirty="0" sz="2700" spc="-5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2010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2025-10-14T09:14:26Z</dcterms:created>
  <dcterms:modified xsi:type="dcterms:W3CDTF">2025-10-14T09:14:26Z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2025-10-14T00:00:00Z</vt:filetime>
  </property>
  <property fmtid="{D5CDD505-2E9C-101B-9397-08002B2CF9AE}" pid="3" name="LastSaved">
    <vt:filetime>2025-10-14T00:00:00Z</vt:filetime>
  </property>
  <property fmtid="{D5CDD505-2E9C-101B-9397-08002B2CF9AE}" pid="4" name="Producer">
    <vt:lpwstr>macOS Version 15.6.1 (Build 24G90) Quartz PDFContext</vt:lpwstr>
  </property>
</Properties>
</file>